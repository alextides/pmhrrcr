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9"/>
  </p:notesMasterIdLst>
  <p:sldIdLst>
    <p:sldId id="256" r:id="rId2"/>
    <p:sldId id="348" r:id="rId3"/>
    <p:sldId id="282" r:id="rId4"/>
    <p:sldId id="257" r:id="rId5"/>
    <p:sldId id="350" r:id="rId6"/>
    <p:sldId id="259" r:id="rId7"/>
    <p:sldId id="299" r:id="rId8"/>
    <p:sldId id="297" r:id="rId9"/>
    <p:sldId id="298" r:id="rId10"/>
    <p:sldId id="308" r:id="rId11"/>
    <p:sldId id="300" r:id="rId12"/>
    <p:sldId id="301" r:id="rId13"/>
    <p:sldId id="323" r:id="rId14"/>
    <p:sldId id="267" r:id="rId15"/>
    <p:sldId id="309" r:id="rId16"/>
    <p:sldId id="268" r:id="rId17"/>
    <p:sldId id="289" r:id="rId18"/>
    <p:sldId id="290" r:id="rId19"/>
    <p:sldId id="292" r:id="rId20"/>
    <p:sldId id="293" r:id="rId21"/>
    <p:sldId id="291" r:id="rId22"/>
    <p:sldId id="273" r:id="rId23"/>
    <p:sldId id="261" r:id="rId24"/>
    <p:sldId id="269" r:id="rId25"/>
    <p:sldId id="315" r:id="rId26"/>
    <p:sldId id="316" r:id="rId27"/>
    <p:sldId id="318" r:id="rId28"/>
    <p:sldId id="319" r:id="rId29"/>
    <p:sldId id="320" r:id="rId30"/>
    <p:sldId id="321" r:id="rId31"/>
    <p:sldId id="322" r:id="rId32"/>
    <p:sldId id="283" r:id="rId33"/>
    <p:sldId id="284" r:id="rId34"/>
    <p:sldId id="285" r:id="rId35"/>
    <p:sldId id="287" r:id="rId36"/>
    <p:sldId id="286" r:id="rId37"/>
    <p:sldId id="288" r:id="rId38"/>
    <p:sldId id="313" r:id="rId39"/>
    <p:sldId id="347" r:id="rId40"/>
    <p:sldId id="314" r:id="rId41"/>
    <p:sldId id="294" r:id="rId42"/>
    <p:sldId id="295" r:id="rId43"/>
    <p:sldId id="349" r:id="rId44"/>
    <p:sldId id="302" r:id="rId45"/>
    <p:sldId id="303" r:id="rId46"/>
    <p:sldId id="304" r:id="rId47"/>
    <p:sldId id="306" r:id="rId48"/>
    <p:sldId id="311" r:id="rId49"/>
    <p:sldId id="266" r:id="rId50"/>
    <p:sldId id="307" r:id="rId51"/>
    <p:sldId id="312" r:id="rId52"/>
    <p:sldId id="274" r:id="rId53"/>
    <p:sldId id="296" r:id="rId54"/>
    <p:sldId id="333" r:id="rId55"/>
    <p:sldId id="324" r:id="rId56"/>
    <p:sldId id="334" r:id="rId57"/>
    <p:sldId id="325" r:id="rId58"/>
    <p:sldId id="335" r:id="rId59"/>
    <p:sldId id="326" r:id="rId60"/>
    <p:sldId id="336" r:id="rId61"/>
    <p:sldId id="327" r:id="rId62"/>
    <p:sldId id="337" r:id="rId63"/>
    <p:sldId id="328" r:id="rId64"/>
    <p:sldId id="338" r:id="rId65"/>
    <p:sldId id="329" r:id="rId66"/>
    <p:sldId id="339" r:id="rId67"/>
    <p:sldId id="330" r:id="rId68"/>
    <p:sldId id="340" r:id="rId69"/>
    <p:sldId id="331" r:id="rId70"/>
    <p:sldId id="341" r:id="rId71"/>
    <p:sldId id="332" r:id="rId72"/>
    <p:sldId id="342" r:id="rId73"/>
    <p:sldId id="343" r:id="rId74"/>
    <p:sldId id="344" r:id="rId75"/>
    <p:sldId id="345" r:id="rId76"/>
    <p:sldId id="346" r:id="rId77"/>
    <p:sldId id="272"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57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9CECC4-5FBF-4FC5-A02B-DFBC8CB1AF24}" type="datetimeFigureOut">
              <a:rPr lang="en-US" smtClean="0"/>
              <a:t>8/9/2020</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4188E4-F050-4BAD-84AF-42791FEF3D2C}" type="slidenum">
              <a:rPr lang="en-US" smtClean="0"/>
              <a:t>‹#›</a:t>
            </a:fld>
            <a:endParaRPr lang="en-US" dirty="0"/>
          </a:p>
        </p:txBody>
      </p:sp>
    </p:spTree>
    <p:extLst>
      <p:ext uri="{BB962C8B-B14F-4D97-AF65-F5344CB8AC3E}">
        <p14:creationId xmlns:p14="http://schemas.microsoft.com/office/powerpoint/2010/main" val="231024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4188E4-F050-4BAD-84AF-42791FEF3D2C}" type="slidenum">
              <a:rPr lang="en-US" smtClean="0"/>
              <a:t>38</a:t>
            </a:fld>
            <a:endParaRPr lang="en-US" dirty="0"/>
          </a:p>
        </p:txBody>
      </p:sp>
    </p:spTree>
    <p:extLst>
      <p:ext uri="{BB962C8B-B14F-4D97-AF65-F5344CB8AC3E}">
        <p14:creationId xmlns:p14="http://schemas.microsoft.com/office/powerpoint/2010/main" val="11897760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7BDA472C-E3A2-420C-9881-FB14E1A06808}" type="datetime1">
              <a:rPr lang="en-US" smtClean="0"/>
              <a:t>8/9/2020</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r>
              <a:rPr lang="en-US" dirty="0"/>
              <a:t>BRK Global Healthcare Consulting Firm, LLC</a:t>
            </a: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DE541A50-5A0E-4693-96C4-C847AC60EA6D}"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5FD21BE-84B7-4934-8CC6-D3D277A3DD1E}" type="datetime1">
              <a:rPr lang="en-US" smtClean="0"/>
              <a:t>8/9/2020</a:t>
            </a:fld>
            <a:endParaRPr lang="en-US" dirty="0"/>
          </a:p>
        </p:txBody>
      </p:sp>
      <p:sp>
        <p:nvSpPr>
          <p:cNvPr id="5" name="Footer Placeholder 4"/>
          <p:cNvSpPr>
            <a:spLocks noGrp="1"/>
          </p:cNvSpPr>
          <p:nvPr>
            <p:ph type="ftr" sz="quarter" idx="11"/>
          </p:nvPr>
        </p:nvSpPr>
        <p:spPr/>
        <p:txBody>
          <a:bodyPr/>
          <a:lstStyle/>
          <a:p>
            <a:r>
              <a:rPr lang="en-US" dirty="0"/>
              <a:t>BRK Global Healthcare Consulting Firm, LLC</a:t>
            </a:r>
          </a:p>
        </p:txBody>
      </p:sp>
      <p:sp>
        <p:nvSpPr>
          <p:cNvPr id="6" name="Slide Number Placeholder 5"/>
          <p:cNvSpPr>
            <a:spLocks noGrp="1"/>
          </p:cNvSpPr>
          <p:nvPr>
            <p:ph type="sldNum" sz="quarter" idx="12"/>
          </p:nvPr>
        </p:nvSpPr>
        <p:spPr/>
        <p:txBody>
          <a:bodyPr/>
          <a:lstStyle/>
          <a:p>
            <a:fld id="{DE541A50-5A0E-4693-96C4-C847AC60EA6D}" type="slidenum">
              <a:rPr lang="en-US" smtClean="0"/>
              <a:pPr/>
              <a:t>‹#›</a:t>
            </a:fld>
            <a:endParaRPr lang="en-US" dirty="0"/>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CC1D286-D7F1-4CC2-A285-D3FAA6CDE3F9}" type="datetime1">
              <a:rPr lang="en-US" smtClean="0"/>
              <a:t>8/9/2020</a:t>
            </a:fld>
            <a:endParaRPr lang="en-US" dirty="0"/>
          </a:p>
        </p:txBody>
      </p:sp>
      <p:sp>
        <p:nvSpPr>
          <p:cNvPr id="5" name="Footer Placeholder 4"/>
          <p:cNvSpPr>
            <a:spLocks noGrp="1"/>
          </p:cNvSpPr>
          <p:nvPr>
            <p:ph type="ftr" sz="quarter" idx="11"/>
          </p:nvPr>
        </p:nvSpPr>
        <p:spPr/>
        <p:txBody>
          <a:bodyPr/>
          <a:lstStyle/>
          <a:p>
            <a:r>
              <a:rPr lang="en-US" dirty="0"/>
              <a:t>BRK Global Healthcare Consulting Firm, LLC</a:t>
            </a:r>
          </a:p>
        </p:txBody>
      </p:sp>
      <p:sp>
        <p:nvSpPr>
          <p:cNvPr id="6" name="Slide Number Placeholder 5"/>
          <p:cNvSpPr>
            <a:spLocks noGrp="1"/>
          </p:cNvSpPr>
          <p:nvPr>
            <p:ph type="sldNum" sz="quarter" idx="12"/>
          </p:nvPr>
        </p:nvSpPr>
        <p:spPr/>
        <p:txBody>
          <a:bodyPr/>
          <a:lstStyle/>
          <a:p>
            <a:fld id="{DE541A50-5A0E-4693-96C4-C847AC60EA6D}"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22393DE-80B8-4A21-A7C1-2C2C62D7ADC4}" type="datetime1">
              <a:rPr lang="en-US" smtClean="0"/>
              <a:t>8/9/2020</a:t>
            </a:fld>
            <a:endParaRPr lang="en-US" dirty="0"/>
          </a:p>
        </p:txBody>
      </p:sp>
      <p:sp>
        <p:nvSpPr>
          <p:cNvPr id="6" name="Footer Placeholder 5"/>
          <p:cNvSpPr>
            <a:spLocks noGrp="1"/>
          </p:cNvSpPr>
          <p:nvPr>
            <p:ph type="ftr" sz="quarter" idx="11"/>
          </p:nvPr>
        </p:nvSpPr>
        <p:spPr/>
        <p:txBody>
          <a:bodyPr/>
          <a:lstStyle/>
          <a:p>
            <a:r>
              <a:rPr lang="en-US" dirty="0"/>
              <a:t>BRK Global Healthcare Consulting Firm, LLC</a:t>
            </a:r>
          </a:p>
        </p:txBody>
      </p:sp>
      <p:sp>
        <p:nvSpPr>
          <p:cNvPr id="7" name="Slide Number Placeholder 6"/>
          <p:cNvSpPr>
            <a:spLocks noGrp="1"/>
          </p:cNvSpPr>
          <p:nvPr>
            <p:ph type="sldNum" sz="quarter" idx="12"/>
          </p:nvPr>
        </p:nvSpPr>
        <p:spPr/>
        <p:txBody>
          <a:bodyPr/>
          <a:lstStyle/>
          <a:p>
            <a:fld id="{DE541A50-5A0E-4693-96C4-C847AC60EA6D}" type="slidenum">
              <a:rPr lang="en-US" smtClean="0"/>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5C7496D-3319-4DB6-9CC9-ECB994FBA67D}" type="datetime1">
              <a:rPr lang="en-US" smtClean="0"/>
              <a:t>8/9/2020</a:t>
            </a:fld>
            <a:endParaRPr lang="en-US" dirty="0"/>
          </a:p>
        </p:txBody>
      </p:sp>
      <p:sp>
        <p:nvSpPr>
          <p:cNvPr id="8" name="Footer Placeholder 7"/>
          <p:cNvSpPr>
            <a:spLocks noGrp="1"/>
          </p:cNvSpPr>
          <p:nvPr>
            <p:ph type="ftr" sz="quarter" idx="11"/>
          </p:nvPr>
        </p:nvSpPr>
        <p:spPr/>
        <p:txBody>
          <a:bodyPr/>
          <a:lstStyle/>
          <a:p>
            <a:r>
              <a:rPr lang="en-US" dirty="0"/>
              <a:t>BRK Global Healthcare Consulting Firm, LLC</a:t>
            </a:r>
          </a:p>
        </p:txBody>
      </p:sp>
      <p:sp>
        <p:nvSpPr>
          <p:cNvPr id="9" name="Slide Number Placeholder 8"/>
          <p:cNvSpPr>
            <a:spLocks noGrp="1"/>
          </p:cNvSpPr>
          <p:nvPr>
            <p:ph type="sldNum" sz="quarter" idx="12"/>
          </p:nvPr>
        </p:nvSpPr>
        <p:spPr/>
        <p:txBody>
          <a:bodyPr/>
          <a:lstStyle/>
          <a:p>
            <a:fld id="{DE541A50-5A0E-4693-96C4-C847AC60EA6D}"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1B65AFB-3A06-4AB1-A30C-BCED898936E4}" type="datetime1">
              <a:rPr lang="en-US" smtClean="0"/>
              <a:t>8/9/2020</a:t>
            </a:fld>
            <a:endParaRPr lang="en-US" dirty="0"/>
          </a:p>
        </p:txBody>
      </p:sp>
      <p:sp>
        <p:nvSpPr>
          <p:cNvPr id="4" name="Footer Placeholder 3"/>
          <p:cNvSpPr>
            <a:spLocks noGrp="1"/>
          </p:cNvSpPr>
          <p:nvPr>
            <p:ph type="ftr" sz="quarter" idx="11"/>
          </p:nvPr>
        </p:nvSpPr>
        <p:spPr/>
        <p:txBody>
          <a:bodyPr/>
          <a:lstStyle/>
          <a:p>
            <a:r>
              <a:rPr lang="en-US" dirty="0"/>
              <a:t>BRK Global Healthcare Consulting Firm, LLC</a:t>
            </a:r>
          </a:p>
        </p:txBody>
      </p:sp>
      <p:sp>
        <p:nvSpPr>
          <p:cNvPr id="5" name="Slide Number Placeholder 4"/>
          <p:cNvSpPr>
            <a:spLocks noGrp="1"/>
          </p:cNvSpPr>
          <p:nvPr>
            <p:ph type="sldNum" sz="quarter" idx="12"/>
          </p:nvPr>
        </p:nvSpPr>
        <p:spPr/>
        <p:txBody>
          <a:bodyPr/>
          <a:lstStyle/>
          <a:p>
            <a:fld id="{DE541A50-5A0E-4693-96C4-C847AC60EA6D}" type="slidenum">
              <a:rPr lang="en-US" smtClean="0"/>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20C3EE-4CF9-4544-9C85-0AF3AB317B78}" type="datetime1">
              <a:rPr lang="en-US" smtClean="0"/>
              <a:t>8/9/2020</a:t>
            </a:fld>
            <a:endParaRPr lang="en-US" dirty="0"/>
          </a:p>
        </p:txBody>
      </p:sp>
      <p:sp>
        <p:nvSpPr>
          <p:cNvPr id="3" name="Footer Placeholder 2"/>
          <p:cNvSpPr>
            <a:spLocks noGrp="1"/>
          </p:cNvSpPr>
          <p:nvPr>
            <p:ph type="ftr" sz="quarter" idx="11"/>
          </p:nvPr>
        </p:nvSpPr>
        <p:spPr/>
        <p:txBody>
          <a:bodyPr/>
          <a:lstStyle/>
          <a:p>
            <a:r>
              <a:rPr lang="en-US" dirty="0"/>
              <a:t>BRK Global Healthcare Consulting Firm, LLC</a:t>
            </a:r>
          </a:p>
        </p:txBody>
      </p:sp>
      <p:sp>
        <p:nvSpPr>
          <p:cNvPr id="4" name="Slide Number Placeholder 3"/>
          <p:cNvSpPr>
            <a:spLocks noGrp="1"/>
          </p:cNvSpPr>
          <p:nvPr>
            <p:ph type="sldNum" sz="quarter" idx="12"/>
          </p:nvPr>
        </p:nvSpPr>
        <p:spPr/>
        <p:txBody>
          <a:bodyPr/>
          <a:lstStyle/>
          <a:p>
            <a:fld id="{DE541A50-5A0E-4693-96C4-C847AC60EA6D}"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7ED12D5-1BC1-4929-81E6-0B6A126FE687}" type="datetime1">
              <a:rPr lang="en-US" smtClean="0"/>
              <a:t>8/9/2020</a:t>
            </a:fld>
            <a:endParaRPr lang="en-US" dirty="0"/>
          </a:p>
        </p:txBody>
      </p:sp>
      <p:sp>
        <p:nvSpPr>
          <p:cNvPr id="6" name="Footer Placeholder 5"/>
          <p:cNvSpPr>
            <a:spLocks noGrp="1"/>
          </p:cNvSpPr>
          <p:nvPr>
            <p:ph type="ftr" sz="quarter" idx="11"/>
          </p:nvPr>
        </p:nvSpPr>
        <p:spPr/>
        <p:txBody>
          <a:bodyPr/>
          <a:lstStyle/>
          <a:p>
            <a:r>
              <a:rPr lang="en-US" dirty="0"/>
              <a:t>BRK Global Healthcare Consulting Firm, LLC</a:t>
            </a:r>
          </a:p>
        </p:txBody>
      </p:sp>
      <p:sp>
        <p:nvSpPr>
          <p:cNvPr id="7" name="Slide Number Placeholder 6"/>
          <p:cNvSpPr>
            <a:spLocks noGrp="1"/>
          </p:cNvSpPr>
          <p:nvPr>
            <p:ph type="sldNum" sz="quarter" idx="12"/>
          </p:nvPr>
        </p:nvSpPr>
        <p:spPr/>
        <p:txBody>
          <a:bodyPr/>
          <a:lstStyle/>
          <a:p>
            <a:fld id="{DE541A50-5A0E-4693-96C4-C847AC60EA6D}"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fld id="{195ADC9E-0FE5-4725-A55F-6CC1BE750EB9}" type="datetime1">
              <a:rPr lang="en-US" smtClean="0"/>
              <a:t>8/9/2020</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r>
              <a:rPr lang="en-US" dirty="0"/>
              <a:t>BRK Global Healthcare Consulting Firm, LLC</a:t>
            </a: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DE541A50-5A0E-4693-96C4-C847AC60EA6D}"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0145D3A-3C2B-4D50-A28A-55697BDAAEAC}" type="datetime1">
              <a:rPr lang="en-US" smtClean="0"/>
              <a:t>8/9/2020</a:t>
            </a:fld>
            <a:endParaRPr lang="en-US" dirty="0"/>
          </a:p>
        </p:txBody>
      </p:sp>
      <p:sp>
        <p:nvSpPr>
          <p:cNvPr id="5" name="Footer Placeholder 4"/>
          <p:cNvSpPr>
            <a:spLocks noGrp="1"/>
          </p:cNvSpPr>
          <p:nvPr>
            <p:ph type="ftr" sz="quarter" idx="11"/>
          </p:nvPr>
        </p:nvSpPr>
        <p:spPr/>
        <p:txBody>
          <a:bodyPr/>
          <a:lstStyle/>
          <a:p>
            <a:r>
              <a:rPr lang="en-US" dirty="0"/>
              <a:t>BRK Global Healthcare Consulting Firm, LLC</a:t>
            </a:r>
          </a:p>
        </p:txBody>
      </p:sp>
      <p:sp>
        <p:nvSpPr>
          <p:cNvPr id="6" name="Slide Number Placeholder 5"/>
          <p:cNvSpPr>
            <a:spLocks noGrp="1"/>
          </p:cNvSpPr>
          <p:nvPr>
            <p:ph type="sldNum" sz="quarter" idx="12"/>
          </p:nvPr>
        </p:nvSpPr>
        <p:spPr/>
        <p:txBody>
          <a:bodyPr/>
          <a:lstStyle/>
          <a:p>
            <a:fld id="{DE541A50-5A0E-4693-96C4-C847AC60EA6D}"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5DE3B4E-F822-427B-A9D5-0EA57807B9C7}" type="datetime1">
              <a:rPr lang="en-US" smtClean="0"/>
              <a:t>8/9/2020</a:t>
            </a:fld>
            <a:endParaRPr lang="en-US" dirty="0"/>
          </a:p>
        </p:txBody>
      </p:sp>
      <p:sp>
        <p:nvSpPr>
          <p:cNvPr id="5" name="Footer Placeholder 4"/>
          <p:cNvSpPr>
            <a:spLocks noGrp="1"/>
          </p:cNvSpPr>
          <p:nvPr>
            <p:ph type="ftr" sz="quarter" idx="11"/>
          </p:nvPr>
        </p:nvSpPr>
        <p:spPr/>
        <p:txBody>
          <a:bodyPr/>
          <a:lstStyle/>
          <a:p>
            <a:r>
              <a:rPr lang="en-US" dirty="0"/>
              <a:t>BRK Global Healthcare Consulting Firm, LLC</a:t>
            </a:r>
          </a:p>
        </p:txBody>
      </p:sp>
      <p:sp>
        <p:nvSpPr>
          <p:cNvPr id="6" name="Slide Number Placeholder 5"/>
          <p:cNvSpPr>
            <a:spLocks noGrp="1"/>
          </p:cNvSpPr>
          <p:nvPr>
            <p:ph type="sldNum" sz="quarter" idx="12"/>
          </p:nvPr>
        </p:nvSpPr>
        <p:spPr/>
        <p:txBody>
          <a:bodyPr/>
          <a:lstStyle/>
          <a:p>
            <a:fld id="{DE541A50-5A0E-4693-96C4-C847AC60EA6D}"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EB4B6BD-4F51-408A-AAD7-A4D075DB0B32}" type="datetime1">
              <a:rPr lang="en-US" smtClean="0"/>
              <a:t>8/9/2020</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r>
              <a:rPr lang="en-US" dirty="0"/>
              <a:t>BRK Global Healthcare Consulting Firm, LLC</a:t>
            </a: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DE541A50-5A0E-4693-96C4-C847AC60EA6D}"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gif"/><Relationship Id="rId4" Type="http://schemas.openxmlformats.org/officeDocument/2006/relationships/image" Target="../media/image3.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www.sleepfounda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sz="4000" dirty="0">
                <a:solidFill>
                  <a:schemeClr val="tx1"/>
                </a:solidFill>
                <a:effectLst/>
              </a:rPr>
              <a:t>Insomnia Disorder </a:t>
            </a:r>
            <a:br>
              <a:rPr lang="en-US" sz="4000" dirty="0">
                <a:solidFill>
                  <a:schemeClr val="tx1"/>
                </a:solidFill>
                <a:effectLst/>
              </a:rPr>
            </a:br>
            <a:r>
              <a:rPr lang="en-US" sz="4000" dirty="0">
                <a:solidFill>
                  <a:schemeClr val="tx1"/>
                </a:solidFill>
              </a:rPr>
              <a:t>Disorder Class: </a:t>
            </a:r>
            <a:r>
              <a:rPr lang="en-US" sz="4000" dirty="0">
                <a:solidFill>
                  <a:schemeClr val="tx1"/>
                </a:solidFill>
                <a:effectLst/>
              </a:rPr>
              <a:t>Sleep-Wake  Disord</a:t>
            </a:r>
            <a:r>
              <a:rPr lang="en-US" sz="3600" dirty="0">
                <a:solidFill>
                  <a:schemeClr val="tx1"/>
                </a:solidFill>
                <a:effectLst/>
              </a:rPr>
              <a:t>ers</a:t>
            </a:r>
            <a:br>
              <a:rPr lang="en-US" dirty="0">
                <a:solidFill>
                  <a:schemeClr val="tx1"/>
                </a:solidFill>
                <a:effectLst/>
              </a:rPr>
            </a:br>
            <a:endParaRPr lang="en-US" b="1" dirty="0">
              <a:solidFill>
                <a:schemeClr val="tx1"/>
              </a:solidFill>
            </a:endParaRPr>
          </a:p>
        </p:txBody>
      </p:sp>
      <p:sp>
        <p:nvSpPr>
          <p:cNvPr id="3" name="Subtitle 2"/>
          <p:cNvSpPr>
            <a:spLocks noGrp="1"/>
          </p:cNvSpPr>
          <p:nvPr>
            <p:ph type="subTitle" idx="1"/>
          </p:nvPr>
        </p:nvSpPr>
        <p:spPr/>
        <p:txBody>
          <a:bodyPr>
            <a:normAutofit/>
          </a:bodyPr>
          <a:lstStyle/>
          <a:p>
            <a:pPr algn="ctr"/>
            <a:r>
              <a:rPr lang="en-US" sz="3200" dirty="0">
                <a:solidFill>
                  <a:schemeClr val="tx1"/>
                </a:solidFill>
              </a:rPr>
              <a:t>Dr. Bernice Robert Kennedy</a:t>
            </a:r>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859" y="204693"/>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F22EB03E-C453-4D49-8BE3-04C3093EF5BA}"/>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5A0778-D742-43EC-AF83-2FD398042BFB}"/>
              </a:ext>
            </a:extLst>
          </p:cNvPr>
          <p:cNvSpPr>
            <a:spLocks noGrp="1"/>
          </p:cNvSpPr>
          <p:nvPr>
            <p:ph idx="1"/>
          </p:nvPr>
        </p:nvSpPr>
        <p:spPr/>
        <p:txBody>
          <a:bodyPr/>
          <a:lstStyle/>
          <a:p>
            <a:r>
              <a:rPr lang="en-US" altLang="en-US" dirty="0"/>
              <a:t>The following training provides information on sleep  disorders with emphasis on treatment modalities to include psychotropic medications.  Also, alternative interventions  to promote sleep will be identified. A practice exam will be provided at the end of training to assess knowledge of content. </a:t>
            </a:r>
            <a:endParaRPr lang="en-US" dirty="0"/>
          </a:p>
          <a:p>
            <a:endParaRPr lang="en-US" dirty="0"/>
          </a:p>
        </p:txBody>
      </p:sp>
      <p:sp>
        <p:nvSpPr>
          <p:cNvPr id="3" name="Title 2">
            <a:extLst>
              <a:ext uri="{FF2B5EF4-FFF2-40B4-BE49-F238E27FC236}">
                <a16:creationId xmlns:a16="http://schemas.microsoft.com/office/drawing/2014/main" id="{711AE03B-21BB-4739-A7A3-E1B5D89B5B29}"/>
              </a:ext>
            </a:extLst>
          </p:cNvPr>
          <p:cNvSpPr>
            <a:spLocks noGrp="1"/>
          </p:cNvSpPr>
          <p:nvPr>
            <p:ph type="title"/>
          </p:nvPr>
        </p:nvSpPr>
        <p:spPr/>
        <p:txBody>
          <a:bodyPr/>
          <a:lstStyle/>
          <a:p>
            <a:r>
              <a:rPr lang="en-US" dirty="0">
                <a:solidFill>
                  <a:schemeClr val="tx1"/>
                </a:solidFill>
              </a:rPr>
              <a:t>Training Objectives </a:t>
            </a:r>
          </a:p>
        </p:txBody>
      </p:sp>
      <p:sp>
        <p:nvSpPr>
          <p:cNvPr id="4" name="Footer Placeholder 3">
            <a:extLst>
              <a:ext uri="{FF2B5EF4-FFF2-40B4-BE49-F238E27FC236}">
                <a16:creationId xmlns:a16="http://schemas.microsoft.com/office/drawing/2014/main" id="{5D1636D1-16DA-49FD-90E6-2CAF35DE771A}"/>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265130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800" b="1" dirty="0"/>
              <a:t>Objectives</a:t>
            </a:r>
            <a:endParaRPr lang="en-US" sz="1800" dirty="0"/>
          </a:p>
          <a:p>
            <a:pPr lvl="2"/>
            <a:r>
              <a:rPr lang="en-US" sz="2400" dirty="0"/>
              <a:t>Discuss the important of sleep.</a:t>
            </a:r>
            <a:endParaRPr lang="en-US" sz="1600" dirty="0"/>
          </a:p>
          <a:p>
            <a:pPr lvl="2"/>
            <a:r>
              <a:rPr lang="en-US" sz="2400" dirty="0"/>
              <a:t>Discuss the 5 stages of sleep.</a:t>
            </a:r>
            <a:endParaRPr lang="en-US" sz="1600" dirty="0"/>
          </a:p>
          <a:p>
            <a:pPr lvl="2"/>
            <a:r>
              <a:rPr lang="en-US" sz="2400" dirty="0"/>
              <a:t>Identifies assessment techniques for sleep.</a:t>
            </a:r>
          </a:p>
          <a:p>
            <a:pPr lvl="2"/>
            <a:r>
              <a:rPr lang="en-US" sz="2400" dirty="0"/>
              <a:t>Discuss the DSM-5 diagnoses of Sleep-wake disorders and related disorder </a:t>
            </a:r>
            <a:endParaRPr lang="en-US" sz="1600" dirty="0"/>
          </a:p>
          <a:p>
            <a:pPr lvl="2"/>
            <a:r>
              <a:rPr lang="en-US" sz="2400" dirty="0"/>
              <a:t>Discuss the common disorders for sleep-wake disorders.</a:t>
            </a:r>
            <a:endParaRPr lang="en-US" sz="1600" dirty="0"/>
          </a:p>
          <a:p>
            <a:pPr lvl="2"/>
            <a:r>
              <a:rPr lang="en-US" sz="2400" dirty="0"/>
              <a:t>Discuss common nursing interventions for clients with sleep disorders.</a:t>
            </a:r>
            <a:endParaRPr lang="en-US" sz="1600" dirty="0"/>
          </a:p>
          <a:p>
            <a:pPr lvl="2"/>
            <a:r>
              <a:rPr lang="en-US" sz="2400" dirty="0"/>
              <a:t>Identify patient/family education for sleep disorders.</a:t>
            </a:r>
            <a:endParaRPr lang="en-US" sz="1600" dirty="0"/>
          </a:p>
          <a:p>
            <a:endParaRPr lang="en-US" dirty="0"/>
          </a:p>
        </p:txBody>
      </p:sp>
      <p:sp>
        <p:nvSpPr>
          <p:cNvPr id="3" name="Title 2"/>
          <p:cNvSpPr>
            <a:spLocks noGrp="1"/>
          </p:cNvSpPr>
          <p:nvPr>
            <p:ph type="title"/>
          </p:nvPr>
        </p:nvSpPr>
        <p:spPr/>
        <p:txBody>
          <a:bodyPr/>
          <a:lstStyle/>
          <a:p>
            <a:r>
              <a:rPr lang="en-US" dirty="0">
                <a:solidFill>
                  <a:schemeClr val="tx1"/>
                </a:solidFill>
              </a:rPr>
              <a:t>Objectives </a:t>
            </a:r>
          </a:p>
        </p:txBody>
      </p:sp>
      <p:sp>
        <p:nvSpPr>
          <p:cNvPr id="4" name="Footer Placeholder 3">
            <a:extLst>
              <a:ext uri="{FF2B5EF4-FFF2-40B4-BE49-F238E27FC236}">
                <a16:creationId xmlns:a16="http://schemas.microsoft.com/office/drawing/2014/main" id="{0EA50AA9-F365-4836-86D2-289058260B8C}"/>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365760" indent="-256032" fontAlgn="auto">
              <a:spcAft>
                <a:spcPts val="0"/>
              </a:spcAft>
              <a:buClr>
                <a:schemeClr val="accent3"/>
              </a:buClr>
              <a:buFont typeface="Wingdings 3"/>
              <a:buChar char=""/>
              <a:defRPr/>
            </a:pPr>
            <a:endParaRPr lang="en-US" sz="2400" dirty="0"/>
          </a:p>
          <a:p>
            <a:r>
              <a:rPr lang="en-US" b="1" dirty="0"/>
              <a:t>Sleep</a:t>
            </a:r>
            <a:endParaRPr lang="en-US" dirty="0"/>
          </a:p>
          <a:p>
            <a:pPr lvl="0"/>
            <a:r>
              <a:rPr lang="en-US" dirty="0"/>
              <a:t>Sleep is needed for body restoration and repair, and subjective sense of being a good  rest is central to a person’s sense of well-being.</a:t>
            </a:r>
          </a:p>
          <a:p>
            <a:pPr lvl="0"/>
            <a:r>
              <a:rPr lang="en-US" dirty="0"/>
              <a:t>Temporary disruption of sleep patterns requires nursing support and attention.</a:t>
            </a:r>
          </a:p>
          <a:p>
            <a:pPr lvl="0"/>
            <a:r>
              <a:rPr lang="en-US" dirty="0"/>
              <a:t>True sleep disorders require both accurate nursing assessment and care as well as referral and specialist evaluation and treatment.</a:t>
            </a:r>
          </a:p>
          <a:p>
            <a:pPr marL="365760" indent="-256032" fontAlgn="auto">
              <a:spcAft>
                <a:spcPts val="0"/>
              </a:spcAft>
              <a:buClr>
                <a:schemeClr val="accent3"/>
              </a:buClr>
              <a:buFont typeface="Wingdings 3"/>
              <a:buNone/>
              <a:defRPr/>
            </a:pPr>
            <a:endParaRPr lang="en-US" sz="2400" dirty="0"/>
          </a:p>
          <a:p>
            <a:pPr marL="365760" indent="-256032" fontAlgn="auto">
              <a:spcAft>
                <a:spcPts val="0"/>
              </a:spcAft>
              <a:buClr>
                <a:schemeClr val="accent3"/>
              </a:buClr>
              <a:buFont typeface="Wingdings 3"/>
              <a:buChar char=""/>
              <a:defRPr/>
            </a:pPr>
            <a:endParaRPr lang="en-US" dirty="0"/>
          </a:p>
        </p:txBody>
      </p:sp>
      <p:sp>
        <p:nvSpPr>
          <p:cNvPr id="50178" name="Title 2"/>
          <p:cNvSpPr>
            <a:spLocks noGrp="1"/>
          </p:cNvSpPr>
          <p:nvPr>
            <p:ph type="title"/>
          </p:nvPr>
        </p:nvSpPr>
        <p:spPr/>
        <p:txBody>
          <a:bodyPr/>
          <a:lstStyle/>
          <a:p>
            <a:r>
              <a:rPr lang="en-US" b="1" dirty="0">
                <a:solidFill>
                  <a:schemeClr val="tx1"/>
                </a:solidFill>
              </a:rPr>
              <a:t>Overview</a:t>
            </a:r>
          </a:p>
        </p:txBody>
      </p:sp>
      <p:sp>
        <p:nvSpPr>
          <p:cNvPr id="3" name="Footer Placeholder 2">
            <a:extLst>
              <a:ext uri="{FF2B5EF4-FFF2-40B4-BE49-F238E27FC236}">
                <a16:creationId xmlns:a16="http://schemas.microsoft.com/office/drawing/2014/main" id="{36884762-070B-4836-A52B-22F836B2447D}"/>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8875E6-E0BC-42AA-81AA-10B4DCDA7439}"/>
              </a:ext>
            </a:extLst>
          </p:cNvPr>
          <p:cNvSpPr>
            <a:spLocks noGrp="1"/>
          </p:cNvSpPr>
          <p:nvPr>
            <p:ph idx="1"/>
          </p:nvPr>
        </p:nvSpPr>
        <p:spPr/>
        <p:txBody>
          <a:bodyPr>
            <a:normAutofit fontScale="92500" lnSpcReduction="20000"/>
          </a:bodyPr>
          <a:lstStyle/>
          <a:p>
            <a:r>
              <a:rPr lang="en-US" dirty="0"/>
              <a:t>Overview</a:t>
            </a:r>
          </a:p>
          <a:p>
            <a:r>
              <a:rPr lang="en-US" dirty="0"/>
              <a:t>Sleep Recommendations</a:t>
            </a:r>
          </a:p>
          <a:p>
            <a:r>
              <a:rPr lang="en-US" dirty="0">
                <a:effectLst>
                  <a:outerShdw blurRad="31750" dist="25400" dir="5400000" algn="tl">
                    <a:srgbClr val="000000">
                      <a:alpha val="25000"/>
                    </a:srgbClr>
                  </a:outerShdw>
                </a:effectLst>
              </a:rPr>
              <a:t>Five Stages of Sleep</a:t>
            </a:r>
            <a:endParaRPr lang="en-US" dirty="0"/>
          </a:p>
          <a:p>
            <a:r>
              <a:rPr lang="en-US" dirty="0"/>
              <a:t>Assessment of Sleep Patterns</a:t>
            </a:r>
          </a:p>
          <a:p>
            <a:r>
              <a:rPr lang="en-US" dirty="0"/>
              <a:t>DSM-5 Diagnoses of Sleep Disorders</a:t>
            </a:r>
          </a:p>
          <a:p>
            <a:r>
              <a:rPr lang="en-US" dirty="0">
                <a:effectLst>
                  <a:outerShdw blurRad="31750" dist="25400" dir="5400000" algn="tl">
                    <a:srgbClr val="000000">
                      <a:alpha val="25000"/>
                    </a:srgbClr>
                  </a:outerShdw>
                </a:effectLst>
              </a:rPr>
              <a:t>Nursing Diagnoses</a:t>
            </a:r>
            <a:endParaRPr lang="en-US" dirty="0"/>
          </a:p>
          <a:p>
            <a:r>
              <a:rPr lang="en-US" dirty="0">
                <a:effectLst>
                  <a:outerShdw blurRad="31750" dist="25400" dir="5400000" algn="tl">
                    <a:srgbClr val="000000">
                      <a:alpha val="25000"/>
                    </a:srgbClr>
                  </a:outerShdw>
                </a:effectLst>
              </a:rPr>
              <a:t>Symptoms of Sleep Disorders</a:t>
            </a:r>
            <a:endParaRPr lang="en-US" dirty="0"/>
          </a:p>
          <a:p>
            <a:r>
              <a:rPr lang="en-US" dirty="0"/>
              <a:t>Consequences of Lack of Sleep and Coexisting Conditions</a:t>
            </a:r>
          </a:p>
          <a:p>
            <a:r>
              <a:rPr lang="en-US" dirty="0">
                <a:effectLst>
                  <a:outerShdw blurRad="31750" dist="25400" dir="5400000" algn="tl">
                    <a:srgbClr val="000000">
                      <a:alpha val="25000"/>
                    </a:srgbClr>
                  </a:outerShdw>
                </a:effectLst>
              </a:rPr>
              <a:t>Techniques for Sleep Hygiene</a:t>
            </a:r>
            <a:endParaRPr lang="en-US" dirty="0"/>
          </a:p>
          <a:p>
            <a:r>
              <a:rPr lang="en-US" dirty="0">
                <a:effectLst>
                  <a:outerShdw blurRad="31750" dist="25400" dir="5400000" algn="tl">
                    <a:srgbClr val="000000">
                      <a:alpha val="25000"/>
                    </a:srgbClr>
                  </a:outerShdw>
                </a:effectLst>
              </a:rPr>
              <a:t>Evaluation/ Outcomes</a:t>
            </a:r>
            <a:endParaRPr lang="en-US" dirty="0"/>
          </a:p>
          <a:p>
            <a:r>
              <a:rPr lang="en-US" dirty="0">
                <a:effectLst>
                  <a:outerShdw blurRad="31750" dist="25400" dir="5400000" algn="tl">
                    <a:srgbClr val="000000">
                      <a:alpha val="25000"/>
                    </a:srgbClr>
                  </a:outerShdw>
                </a:effectLst>
              </a:rPr>
              <a:t>Practice Questions</a:t>
            </a:r>
            <a:endParaRPr lang="en-US" dirty="0"/>
          </a:p>
          <a:p>
            <a:endParaRPr lang="en-US" dirty="0"/>
          </a:p>
        </p:txBody>
      </p:sp>
      <p:sp>
        <p:nvSpPr>
          <p:cNvPr id="3" name="Title 2">
            <a:extLst>
              <a:ext uri="{FF2B5EF4-FFF2-40B4-BE49-F238E27FC236}">
                <a16:creationId xmlns:a16="http://schemas.microsoft.com/office/drawing/2014/main" id="{1675C1BF-2D5D-4197-AD23-F41A8DDA5B3A}"/>
              </a:ext>
            </a:extLst>
          </p:cNvPr>
          <p:cNvSpPr>
            <a:spLocks noGrp="1"/>
          </p:cNvSpPr>
          <p:nvPr>
            <p:ph type="title"/>
          </p:nvPr>
        </p:nvSpPr>
        <p:spPr/>
        <p:txBody>
          <a:bodyPr/>
          <a:lstStyle/>
          <a:p>
            <a:r>
              <a:rPr lang="en-US" dirty="0">
                <a:solidFill>
                  <a:schemeClr val="tx1"/>
                </a:solidFill>
              </a:rPr>
              <a:t>Outline</a:t>
            </a:r>
          </a:p>
        </p:txBody>
      </p:sp>
      <p:sp>
        <p:nvSpPr>
          <p:cNvPr id="4" name="Footer Placeholder 3">
            <a:extLst>
              <a:ext uri="{FF2B5EF4-FFF2-40B4-BE49-F238E27FC236}">
                <a16:creationId xmlns:a16="http://schemas.microsoft.com/office/drawing/2014/main" id="{57D1DCB4-0F93-4B64-8174-C0859DB4FC5E}"/>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965927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buNone/>
            </a:pPr>
            <a:r>
              <a:rPr lang="en-US" b="1" dirty="0"/>
              <a:t>Insomnia</a:t>
            </a:r>
            <a:endParaRPr lang="en-US" dirty="0"/>
          </a:p>
          <a:p>
            <a:pPr lvl="0"/>
            <a:r>
              <a:rPr lang="en-US" dirty="0"/>
              <a:t>Insomnia is a sleep disorder characterized by difficulty in initiating or maintaining sleep.  Insomnia is considered as a psychological problem if it lasts sufficiently for a long  period of time (1 months or more) and lead to impairment in functioning.</a:t>
            </a:r>
          </a:p>
          <a:p>
            <a:pPr lvl="0"/>
            <a:r>
              <a:rPr lang="en-US" dirty="0"/>
              <a:t>Primary Insomnia is given to the conditions in which there are no known external cause to sleep</a:t>
            </a:r>
          </a:p>
          <a:p>
            <a:pPr marL="109728" indent="0">
              <a:buNone/>
            </a:pPr>
            <a:endParaRPr lang="en-US" b="1" dirty="0"/>
          </a:p>
          <a:p>
            <a:pPr marL="365760" indent="-256032" fontAlgn="auto">
              <a:spcAft>
                <a:spcPts val="0"/>
              </a:spcAft>
              <a:buClr>
                <a:schemeClr val="accent3"/>
              </a:buClr>
              <a:buFont typeface="Wingdings 3"/>
              <a:buChar char=""/>
              <a:defRPr/>
            </a:pPr>
            <a:endParaRPr lang="en-US" dirty="0"/>
          </a:p>
        </p:txBody>
      </p:sp>
      <p:sp>
        <p:nvSpPr>
          <p:cNvPr id="52226" name="Title 2"/>
          <p:cNvSpPr>
            <a:spLocks noGrp="1"/>
          </p:cNvSpPr>
          <p:nvPr>
            <p:ph type="title"/>
          </p:nvPr>
        </p:nvSpPr>
        <p:spPr/>
        <p:txBody>
          <a:bodyPr/>
          <a:lstStyle/>
          <a:p>
            <a:r>
              <a:rPr lang="en-US" dirty="0">
                <a:solidFill>
                  <a:schemeClr val="tx1"/>
                </a:solidFill>
              </a:rPr>
              <a:t>Overview</a:t>
            </a:r>
          </a:p>
        </p:txBody>
      </p:sp>
      <p:sp>
        <p:nvSpPr>
          <p:cNvPr id="3" name="Footer Placeholder 2">
            <a:extLst>
              <a:ext uri="{FF2B5EF4-FFF2-40B4-BE49-F238E27FC236}">
                <a16:creationId xmlns:a16="http://schemas.microsoft.com/office/drawing/2014/main" id="{74DAEAC9-85E2-47C3-A65A-84A3AF3A58A9}"/>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525502-690B-484C-ADA1-78D2DBC087DD}"/>
              </a:ext>
            </a:extLst>
          </p:cNvPr>
          <p:cNvSpPr>
            <a:spLocks noGrp="1"/>
          </p:cNvSpPr>
          <p:nvPr>
            <p:ph idx="1"/>
          </p:nvPr>
        </p:nvSpPr>
        <p:spPr/>
        <p:txBody>
          <a:bodyPr>
            <a:normAutofit lnSpcReduction="10000"/>
          </a:bodyPr>
          <a:lstStyle/>
          <a:p>
            <a:r>
              <a:rPr lang="en-US" b="1" dirty="0"/>
              <a:t>Sleep</a:t>
            </a:r>
            <a:r>
              <a:rPr lang="en-US" dirty="0"/>
              <a:t> is a basic human need and is critical to both physical and mental health. </a:t>
            </a:r>
          </a:p>
          <a:p>
            <a:r>
              <a:rPr lang="en-US" dirty="0"/>
              <a:t>There are two types of sleep that generally occur in a pattern of three-to-five cycles per night:</a:t>
            </a:r>
          </a:p>
          <a:p>
            <a:pPr lvl="1"/>
            <a:r>
              <a:rPr lang="en-US" b="1" dirty="0"/>
              <a:t>Rapid eye movement (REM) </a:t>
            </a:r>
            <a:r>
              <a:rPr lang="en-US" dirty="0"/>
              <a:t>– when most dreaming occurs</a:t>
            </a:r>
          </a:p>
          <a:p>
            <a:pPr lvl="1"/>
            <a:r>
              <a:rPr lang="en-US" b="1" dirty="0"/>
              <a:t>Non-REM </a:t>
            </a:r>
            <a:r>
              <a:rPr lang="en-US" dirty="0"/>
              <a:t>– has three phases, including the deepest sleep</a:t>
            </a:r>
          </a:p>
          <a:p>
            <a:pPr lvl="1"/>
            <a:r>
              <a:rPr lang="en-US" dirty="0"/>
              <a:t>When you sleep is also important. Your body typically works on a 24-hour cycle (circadian rhythm) that helps you know when to sleep.</a:t>
            </a:r>
          </a:p>
          <a:p>
            <a:endParaRPr lang="en-US" dirty="0"/>
          </a:p>
        </p:txBody>
      </p:sp>
      <p:sp>
        <p:nvSpPr>
          <p:cNvPr id="3" name="Title 2">
            <a:extLst>
              <a:ext uri="{FF2B5EF4-FFF2-40B4-BE49-F238E27FC236}">
                <a16:creationId xmlns:a16="http://schemas.microsoft.com/office/drawing/2014/main" id="{4D8FC942-1AB5-487B-84F7-C78F6CBC0BE6}"/>
              </a:ext>
            </a:extLst>
          </p:cNvPr>
          <p:cNvSpPr>
            <a:spLocks noGrp="1"/>
          </p:cNvSpPr>
          <p:nvPr>
            <p:ph type="title"/>
          </p:nvPr>
        </p:nvSpPr>
        <p:spPr/>
        <p:txBody>
          <a:bodyPr/>
          <a:lstStyle/>
          <a:p>
            <a:r>
              <a:rPr lang="en-US" dirty="0">
                <a:solidFill>
                  <a:schemeClr val="tx1"/>
                </a:solidFill>
              </a:rPr>
              <a:t>Overview </a:t>
            </a:r>
          </a:p>
        </p:txBody>
      </p:sp>
      <p:sp>
        <p:nvSpPr>
          <p:cNvPr id="4" name="Footer Placeholder 3">
            <a:extLst>
              <a:ext uri="{FF2B5EF4-FFF2-40B4-BE49-F238E27FC236}">
                <a16:creationId xmlns:a16="http://schemas.microsoft.com/office/drawing/2014/main" id="{765FD4BD-84B0-4334-8191-2889A16F8985}"/>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123996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43C33D-04E5-4027-8CD3-4D7460E8EE0B}"/>
              </a:ext>
            </a:extLst>
          </p:cNvPr>
          <p:cNvSpPr>
            <a:spLocks noGrp="1"/>
          </p:cNvSpPr>
          <p:nvPr>
            <p:ph idx="1"/>
          </p:nvPr>
        </p:nvSpPr>
        <p:spPr/>
        <p:txBody>
          <a:bodyPr/>
          <a:lstStyle/>
          <a:p>
            <a:r>
              <a:rPr lang="en-US" b="1" dirty="0"/>
              <a:t>Sleep disorders </a:t>
            </a:r>
            <a:r>
              <a:rPr lang="en-US" dirty="0"/>
              <a:t>involve problems with the quality, timing and amount of sleep, which cause problems with functioning and distress during the daytime. </a:t>
            </a:r>
          </a:p>
          <a:p>
            <a:r>
              <a:rPr lang="en-US" dirty="0"/>
              <a:t>There are a number of different types of sleep disorders, of which insomnia is the most common. </a:t>
            </a:r>
          </a:p>
          <a:p>
            <a:r>
              <a:rPr lang="en-US" dirty="0"/>
              <a:t>Other sleep disorders are </a:t>
            </a:r>
            <a:r>
              <a:rPr lang="en-US" b="1" dirty="0"/>
              <a:t>narcolepsy, obstructive sleep apnea and restless leg syndrome.</a:t>
            </a:r>
          </a:p>
        </p:txBody>
      </p:sp>
      <p:sp>
        <p:nvSpPr>
          <p:cNvPr id="3" name="Title 2">
            <a:extLst>
              <a:ext uri="{FF2B5EF4-FFF2-40B4-BE49-F238E27FC236}">
                <a16:creationId xmlns:a16="http://schemas.microsoft.com/office/drawing/2014/main" id="{C81B9D91-5852-44BB-A644-31CE15EEFC4A}"/>
              </a:ext>
            </a:extLst>
          </p:cNvPr>
          <p:cNvSpPr>
            <a:spLocks noGrp="1"/>
          </p:cNvSpPr>
          <p:nvPr>
            <p:ph type="title"/>
          </p:nvPr>
        </p:nvSpPr>
        <p:spPr/>
        <p:txBody>
          <a:bodyPr/>
          <a:lstStyle/>
          <a:p>
            <a:r>
              <a:rPr lang="en-US" dirty="0">
                <a:solidFill>
                  <a:schemeClr val="tx1"/>
                </a:solidFill>
              </a:rPr>
              <a:t>Overview </a:t>
            </a:r>
          </a:p>
        </p:txBody>
      </p:sp>
      <p:sp>
        <p:nvSpPr>
          <p:cNvPr id="4" name="Footer Placeholder 3">
            <a:extLst>
              <a:ext uri="{FF2B5EF4-FFF2-40B4-BE49-F238E27FC236}">
                <a16:creationId xmlns:a16="http://schemas.microsoft.com/office/drawing/2014/main" id="{3DC062C4-FD9F-4F1F-A321-5BDC0D45A20C}"/>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955316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524195-3E77-43E1-AE8D-62F7C998C382}"/>
              </a:ext>
            </a:extLst>
          </p:cNvPr>
          <p:cNvSpPr>
            <a:spLocks noGrp="1"/>
          </p:cNvSpPr>
          <p:nvPr>
            <p:ph idx="1"/>
          </p:nvPr>
        </p:nvSpPr>
        <p:spPr/>
        <p:txBody>
          <a:bodyPr/>
          <a:lstStyle/>
          <a:p>
            <a:r>
              <a:rPr lang="en-US" b="1" dirty="0"/>
              <a:t>Sleep difficulties </a:t>
            </a:r>
            <a:r>
              <a:rPr lang="en-US" dirty="0"/>
              <a:t>are linked to both </a:t>
            </a:r>
            <a:r>
              <a:rPr lang="en-US" b="1" dirty="0"/>
              <a:t>physical </a:t>
            </a:r>
            <a:r>
              <a:rPr lang="en-US" dirty="0"/>
              <a:t>and </a:t>
            </a:r>
            <a:r>
              <a:rPr lang="en-US" b="1" dirty="0"/>
              <a:t>emotional problems</a:t>
            </a:r>
            <a:r>
              <a:rPr lang="en-US" dirty="0"/>
              <a:t>. </a:t>
            </a:r>
          </a:p>
          <a:p>
            <a:r>
              <a:rPr lang="en-US" dirty="0"/>
              <a:t>Sleep problems can both contribute to or exacerbate mental health conditions and be a symptom of other mental health conditions.</a:t>
            </a:r>
          </a:p>
          <a:p>
            <a:r>
              <a:rPr lang="en-US" dirty="0"/>
              <a:t>In primary care, 10-20 percent of people complain of significant sleep problems. </a:t>
            </a:r>
          </a:p>
          <a:p>
            <a:r>
              <a:rPr lang="en-US" dirty="0"/>
              <a:t>About one-third of adults report insomnia symptoms and 6-10 percent meet the criteria for insomnia disorder.</a:t>
            </a:r>
          </a:p>
          <a:p>
            <a:endParaRPr lang="en-US" dirty="0"/>
          </a:p>
        </p:txBody>
      </p:sp>
      <p:sp>
        <p:nvSpPr>
          <p:cNvPr id="3" name="Title 2">
            <a:extLst>
              <a:ext uri="{FF2B5EF4-FFF2-40B4-BE49-F238E27FC236}">
                <a16:creationId xmlns:a16="http://schemas.microsoft.com/office/drawing/2014/main" id="{9AF582EF-E490-482D-A4E2-D6713BB94B7E}"/>
              </a:ext>
            </a:extLst>
          </p:cNvPr>
          <p:cNvSpPr>
            <a:spLocks noGrp="1"/>
          </p:cNvSpPr>
          <p:nvPr>
            <p:ph type="title"/>
          </p:nvPr>
        </p:nvSpPr>
        <p:spPr/>
        <p:txBody>
          <a:bodyPr/>
          <a:lstStyle/>
          <a:p>
            <a:r>
              <a:rPr lang="en-US" dirty="0">
                <a:solidFill>
                  <a:schemeClr val="tx1"/>
                </a:solidFill>
              </a:rPr>
              <a:t>Overview </a:t>
            </a:r>
          </a:p>
        </p:txBody>
      </p:sp>
      <p:sp>
        <p:nvSpPr>
          <p:cNvPr id="4" name="Footer Placeholder 3">
            <a:extLst>
              <a:ext uri="{FF2B5EF4-FFF2-40B4-BE49-F238E27FC236}">
                <a16:creationId xmlns:a16="http://schemas.microsoft.com/office/drawing/2014/main" id="{51757527-4F06-4D69-92F0-E0BF48EFAA0E}"/>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750723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solidFill>
                  <a:schemeClr val="tx1"/>
                </a:solidFill>
                <a:effectLst/>
              </a:rPr>
              <a:t>Sleep Recommendations</a:t>
            </a:r>
            <a:br>
              <a:rPr lang="en-US" dirty="0">
                <a:solidFill>
                  <a:schemeClr val="tx1"/>
                </a:solidFill>
                <a:effectLst/>
              </a:rPr>
            </a:br>
            <a:endParaRPr lang="en-US" b="1" dirty="0">
              <a:solidFill>
                <a:schemeClr val="tx1"/>
              </a:solidFill>
            </a:endParaRPr>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55E835BF-364B-4972-AC61-B4A66DF390DD}"/>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592563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E73C97-F145-4D84-B4CF-6EBBF5C287D7}"/>
              </a:ext>
            </a:extLst>
          </p:cNvPr>
          <p:cNvSpPr>
            <a:spLocks noGrp="1"/>
          </p:cNvSpPr>
          <p:nvPr>
            <p:ph idx="1"/>
          </p:nvPr>
        </p:nvSpPr>
        <p:spPr/>
        <p:txBody>
          <a:bodyPr>
            <a:normAutofit fontScale="77500" lnSpcReduction="20000"/>
          </a:bodyPr>
          <a:lstStyle/>
          <a:p>
            <a:r>
              <a:rPr lang="en-US" dirty="0"/>
              <a:t>How much sleep we need varies depending on age and varies from person to person. </a:t>
            </a:r>
          </a:p>
          <a:p>
            <a:r>
              <a:rPr lang="en-US" dirty="0"/>
              <a:t>Most adults need about seven to nine hours of restful sleep each night, according to the National Sleep Foundation. </a:t>
            </a:r>
          </a:p>
          <a:p>
            <a:r>
              <a:rPr lang="en-US" dirty="0"/>
              <a:t>The Foundation revised its sleep recommendations in 2015 based on a rigorous review of scientific literature.</a:t>
            </a:r>
          </a:p>
          <a:p>
            <a:r>
              <a:rPr lang="en-US" dirty="0"/>
              <a:t>Many of us do not get enough sleep. </a:t>
            </a:r>
          </a:p>
          <a:p>
            <a:r>
              <a:rPr lang="en-US" dirty="0"/>
              <a:t>Nearly 30 percent of adults get less than six hours of sleep each night and only about 30 percent of high school students get at least eight hours of sleep on an average school night.</a:t>
            </a:r>
            <a:endParaRPr lang="en-US" baseline="30000" dirty="0"/>
          </a:p>
          <a:p>
            <a:r>
              <a:rPr lang="en-US" dirty="0"/>
              <a:t> An estimated 35 percent of Americans report their sleep quality as “poor” or “only fair.”</a:t>
            </a:r>
          </a:p>
          <a:p>
            <a:endParaRPr lang="en-US" dirty="0"/>
          </a:p>
        </p:txBody>
      </p:sp>
      <p:sp>
        <p:nvSpPr>
          <p:cNvPr id="3" name="Title 2">
            <a:extLst>
              <a:ext uri="{FF2B5EF4-FFF2-40B4-BE49-F238E27FC236}">
                <a16:creationId xmlns:a16="http://schemas.microsoft.com/office/drawing/2014/main" id="{27D4D9A4-1528-4DA4-95BD-2D92C7768368}"/>
              </a:ext>
            </a:extLst>
          </p:cNvPr>
          <p:cNvSpPr>
            <a:spLocks noGrp="1"/>
          </p:cNvSpPr>
          <p:nvPr>
            <p:ph type="title"/>
          </p:nvPr>
        </p:nvSpPr>
        <p:spPr/>
        <p:txBody>
          <a:bodyPr>
            <a:normAutofit fontScale="90000"/>
          </a:bodyPr>
          <a:lstStyle/>
          <a:p>
            <a:r>
              <a:rPr lang="en-US" dirty="0">
                <a:solidFill>
                  <a:schemeClr val="tx1"/>
                </a:solidFill>
              </a:rPr>
              <a:t>Sleep Recommendation</a:t>
            </a:r>
            <a:br>
              <a:rPr lang="en-US" dirty="0">
                <a:solidFill>
                  <a:schemeClr val="tx1"/>
                </a:solidFill>
              </a:rPr>
            </a:br>
            <a:endParaRPr lang="en-US" dirty="0">
              <a:solidFill>
                <a:schemeClr val="tx1"/>
              </a:solidFill>
            </a:endParaRPr>
          </a:p>
        </p:txBody>
      </p:sp>
      <p:sp>
        <p:nvSpPr>
          <p:cNvPr id="4" name="Footer Placeholder 3">
            <a:extLst>
              <a:ext uri="{FF2B5EF4-FFF2-40B4-BE49-F238E27FC236}">
                <a16:creationId xmlns:a16="http://schemas.microsoft.com/office/drawing/2014/main" id="{ED5F0446-2C90-439D-A079-5C948AA41B1A}"/>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2766777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8330907-B8DD-4636-BC44-802097DD6D92}"/>
              </a:ext>
            </a:extLst>
          </p:cNvPr>
          <p:cNvGraphicFramePr>
            <a:graphicFrameLocks noGrp="1"/>
          </p:cNvGraphicFramePr>
          <p:nvPr>
            <p:ph idx="1"/>
            <p:extLst>
              <p:ext uri="{D42A27DB-BD31-4B8C-83A1-F6EECF244321}">
                <p14:modId xmlns:p14="http://schemas.microsoft.com/office/powerpoint/2010/main" val="1494069896"/>
              </p:ext>
            </p:extLst>
          </p:nvPr>
        </p:nvGraphicFramePr>
        <p:xfrm>
          <a:off x="457200" y="1481138"/>
          <a:ext cx="8229600" cy="3339782"/>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561500289"/>
                    </a:ext>
                  </a:extLst>
                </a:gridCol>
                <a:gridCol w="4114800">
                  <a:extLst>
                    <a:ext uri="{9D8B030D-6E8A-4147-A177-3AD203B41FA5}">
                      <a16:colId xmlns:a16="http://schemas.microsoft.com/office/drawing/2014/main" val="1559298438"/>
                    </a:ext>
                  </a:extLst>
                </a:gridCol>
              </a:tblGrid>
              <a:tr h="370840">
                <a:tc>
                  <a:txBody>
                    <a:bodyPr/>
                    <a:lstStyle/>
                    <a:p>
                      <a:pPr algn="ctr"/>
                      <a:r>
                        <a:rPr lang="en-US" dirty="0"/>
                        <a:t>Age </a:t>
                      </a:r>
                    </a:p>
                  </a:txBody>
                  <a:tcPr/>
                </a:tc>
                <a:tc>
                  <a:txBody>
                    <a:bodyPr/>
                    <a:lstStyle/>
                    <a:p>
                      <a:pPr algn="ctr"/>
                      <a:r>
                        <a:rPr lang="en-US" dirty="0"/>
                        <a:t>Hours of Sleep</a:t>
                      </a:r>
                    </a:p>
                  </a:txBody>
                  <a:tcPr/>
                </a:tc>
                <a:extLst>
                  <a:ext uri="{0D108BD9-81ED-4DB2-BD59-A6C34878D82A}">
                    <a16:rowId xmlns:a16="http://schemas.microsoft.com/office/drawing/2014/main" val="1108732952"/>
                  </a:ext>
                </a:extLst>
              </a:tr>
              <a:tr h="370840">
                <a:tc>
                  <a:txBody>
                    <a:bodyPr/>
                    <a:lstStyle/>
                    <a:p>
                      <a:r>
                        <a:rPr lang="en-US" dirty="0"/>
                        <a:t>Infant (4-11 months)</a:t>
                      </a:r>
                    </a:p>
                  </a:txBody>
                  <a:tcPr/>
                </a:tc>
                <a:tc>
                  <a:txBody>
                    <a:bodyPr/>
                    <a:lstStyle/>
                    <a:p>
                      <a:r>
                        <a:rPr lang="en-US" dirty="0"/>
                        <a:t>12-15 hours</a:t>
                      </a:r>
                    </a:p>
                  </a:txBody>
                  <a:tcPr/>
                </a:tc>
                <a:extLst>
                  <a:ext uri="{0D108BD9-81ED-4DB2-BD59-A6C34878D82A}">
                    <a16:rowId xmlns:a16="http://schemas.microsoft.com/office/drawing/2014/main" val="1977901320"/>
                  </a:ext>
                </a:extLst>
              </a:tr>
              <a:tr h="370840">
                <a:tc>
                  <a:txBody>
                    <a:bodyPr/>
                    <a:lstStyle/>
                    <a:p>
                      <a:r>
                        <a:rPr lang="en-US" dirty="0"/>
                        <a:t>Toddler (1-2 years)</a:t>
                      </a:r>
                    </a:p>
                  </a:txBody>
                  <a:tcPr/>
                </a:tc>
                <a:tc>
                  <a:txBody>
                    <a:bodyPr/>
                    <a:lstStyle/>
                    <a:p>
                      <a:r>
                        <a:rPr lang="en-US" dirty="0"/>
                        <a:t>11-14 hours</a:t>
                      </a:r>
                    </a:p>
                  </a:txBody>
                  <a:tcPr/>
                </a:tc>
                <a:extLst>
                  <a:ext uri="{0D108BD9-81ED-4DB2-BD59-A6C34878D82A}">
                    <a16:rowId xmlns:a16="http://schemas.microsoft.com/office/drawing/2014/main" val="28736604"/>
                  </a:ext>
                </a:extLst>
              </a:tr>
              <a:tr h="378142">
                <a:tc>
                  <a:txBody>
                    <a:bodyPr/>
                    <a:lstStyle/>
                    <a:p>
                      <a:r>
                        <a:rPr lang="en-US" dirty="0"/>
                        <a:t>Preschooler (3-5 years)</a:t>
                      </a:r>
                    </a:p>
                  </a:txBody>
                  <a:tcPr/>
                </a:tc>
                <a:tc>
                  <a:txBody>
                    <a:bodyPr/>
                    <a:lstStyle/>
                    <a:p>
                      <a:r>
                        <a:rPr lang="en-US" dirty="0"/>
                        <a:t>10-13 hours</a:t>
                      </a:r>
                    </a:p>
                  </a:txBody>
                  <a:tcPr/>
                </a:tc>
                <a:extLst>
                  <a:ext uri="{0D108BD9-81ED-4DB2-BD59-A6C34878D82A}">
                    <a16:rowId xmlns:a16="http://schemas.microsoft.com/office/drawing/2014/main" val="295834638"/>
                  </a:ext>
                </a:extLst>
              </a:tr>
              <a:tr h="370840">
                <a:tc>
                  <a:txBody>
                    <a:bodyPr/>
                    <a:lstStyle/>
                    <a:p>
                      <a:r>
                        <a:rPr lang="en-US" dirty="0"/>
                        <a:t>School-age child (6-13 years)</a:t>
                      </a:r>
                    </a:p>
                  </a:txBody>
                  <a:tcPr/>
                </a:tc>
                <a:tc>
                  <a:txBody>
                    <a:bodyPr/>
                    <a:lstStyle/>
                    <a:p>
                      <a:r>
                        <a:rPr lang="en-US" dirty="0"/>
                        <a:t>9-11 hours</a:t>
                      </a:r>
                    </a:p>
                  </a:txBody>
                  <a:tcPr/>
                </a:tc>
                <a:extLst>
                  <a:ext uri="{0D108BD9-81ED-4DB2-BD59-A6C34878D82A}">
                    <a16:rowId xmlns:a16="http://schemas.microsoft.com/office/drawing/2014/main" val="2967024653"/>
                  </a:ext>
                </a:extLst>
              </a:tr>
              <a:tr h="314960">
                <a:tc>
                  <a:txBody>
                    <a:bodyPr/>
                    <a:lstStyle/>
                    <a:p>
                      <a:r>
                        <a:rPr lang="en-US" dirty="0"/>
                        <a:t>Teen (14-17 years)</a:t>
                      </a:r>
                    </a:p>
                  </a:txBody>
                  <a:tcPr/>
                </a:tc>
                <a:tc>
                  <a:txBody>
                    <a:bodyPr/>
                    <a:lstStyle/>
                    <a:p>
                      <a:r>
                        <a:rPr lang="en-US" dirty="0"/>
                        <a:t>8-10 hours</a:t>
                      </a:r>
                    </a:p>
                  </a:txBody>
                  <a:tcPr/>
                </a:tc>
                <a:extLst>
                  <a:ext uri="{0D108BD9-81ED-4DB2-BD59-A6C34878D82A}">
                    <a16:rowId xmlns:a16="http://schemas.microsoft.com/office/drawing/2014/main" val="1808020570"/>
                  </a:ext>
                </a:extLst>
              </a:tr>
              <a:tr h="370840">
                <a:tc>
                  <a:txBody>
                    <a:bodyPr/>
                    <a:lstStyle/>
                    <a:p>
                      <a:r>
                        <a:rPr lang="en-US" dirty="0"/>
                        <a:t>Young adult (18-25 years)</a:t>
                      </a:r>
                    </a:p>
                  </a:txBody>
                  <a:tcPr/>
                </a:tc>
                <a:tc>
                  <a:txBody>
                    <a:bodyPr/>
                    <a:lstStyle/>
                    <a:p>
                      <a:r>
                        <a:rPr lang="en-US" dirty="0"/>
                        <a:t>7-9 hours</a:t>
                      </a:r>
                    </a:p>
                  </a:txBody>
                  <a:tcPr/>
                </a:tc>
                <a:extLst>
                  <a:ext uri="{0D108BD9-81ED-4DB2-BD59-A6C34878D82A}">
                    <a16:rowId xmlns:a16="http://schemas.microsoft.com/office/drawing/2014/main" val="1406504894"/>
                  </a:ext>
                </a:extLst>
              </a:tr>
              <a:tr h="370840">
                <a:tc>
                  <a:txBody>
                    <a:bodyPr/>
                    <a:lstStyle/>
                    <a:p>
                      <a:r>
                        <a:rPr lang="en-US" dirty="0"/>
                        <a:t>Adult (26-64 years)</a:t>
                      </a:r>
                    </a:p>
                  </a:txBody>
                  <a:tcPr/>
                </a:tc>
                <a:tc>
                  <a:txBody>
                    <a:bodyPr/>
                    <a:lstStyle/>
                    <a:p>
                      <a:r>
                        <a:rPr lang="en-US" dirty="0"/>
                        <a:t>7-9 hours</a:t>
                      </a:r>
                    </a:p>
                  </a:txBody>
                  <a:tcPr/>
                </a:tc>
                <a:extLst>
                  <a:ext uri="{0D108BD9-81ED-4DB2-BD59-A6C34878D82A}">
                    <a16:rowId xmlns:a16="http://schemas.microsoft.com/office/drawing/2014/main" val="2280634315"/>
                  </a:ext>
                </a:extLst>
              </a:tr>
              <a:tr h="370840">
                <a:tc>
                  <a:txBody>
                    <a:bodyPr/>
                    <a:lstStyle/>
                    <a:p>
                      <a:r>
                        <a:rPr lang="en-US" dirty="0"/>
                        <a:t>Older adult (65+ years)</a:t>
                      </a:r>
                    </a:p>
                  </a:txBody>
                  <a:tcPr/>
                </a:tc>
                <a:tc>
                  <a:txBody>
                    <a:bodyPr/>
                    <a:lstStyle/>
                    <a:p>
                      <a:r>
                        <a:rPr lang="en-US" dirty="0"/>
                        <a:t>7-8 hours</a:t>
                      </a:r>
                    </a:p>
                  </a:txBody>
                  <a:tcPr/>
                </a:tc>
                <a:extLst>
                  <a:ext uri="{0D108BD9-81ED-4DB2-BD59-A6C34878D82A}">
                    <a16:rowId xmlns:a16="http://schemas.microsoft.com/office/drawing/2014/main" val="2878933745"/>
                  </a:ext>
                </a:extLst>
              </a:tr>
            </a:tbl>
          </a:graphicData>
        </a:graphic>
      </p:graphicFrame>
      <p:sp>
        <p:nvSpPr>
          <p:cNvPr id="3" name="Title 2">
            <a:extLst>
              <a:ext uri="{FF2B5EF4-FFF2-40B4-BE49-F238E27FC236}">
                <a16:creationId xmlns:a16="http://schemas.microsoft.com/office/drawing/2014/main" id="{A91F4EED-8966-407E-B4CA-462E58AC86C0}"/>
              </a:ext>
            </a:extLst>
          </p:cNvPr>
          <p:cNvSpPr>
            <a:spLocks noGrp="1"/>
          </p:cNvSpPr>
          <p:nvPr>
            <p:ph type="title"/>
          </p:nvPr>
        </p:nvSpPr>
        <p:spPr/>
        <p:txBody>
          <a:bodyPr>
            <a:normAutofit fontScale="90000"/>
          </a:bodyPr>
          <a:lstStyle/>
          <a:p>
            <a:pPr algn="ctr"/>
            <a:r>
              <a:rPr lang="en-US" dirty="0">
                <a:solidFill>
                  <a:schemeClr val="tx1"/>
                </a:solidFill>
              </a:rPr>
              <a:t>Sleep Recommendations</a:t>
            </a:r>
            <a:br>
              <a:rPr lang="en-US" dirty="0">
                <a:solidFill>
                  <a:schemeClr val="tx1"/>
                </a:solidFill>
              </a:rPr>
            </a:br>
            <a:r>
              <a:rPr lang="en-US" dirty="0">
                <a:solidFill>
                  <a:schemeClr val="tx1"/>
                </a:solidFill>
              </a:rPr>
              <a:t>(National Sleep Foundation</a:t>
            </a:r>
            <a:r>
              <a:rPr lang="en-US" dirty="0"/>
              <a:t>)</a:t>
            </a:r>
          </a:p>
        </p:txBody>
      </p:sp>
      <p:sp>
        <p:nvSpPr>
          <p:cNvPr id="2" name="Footer Placeholder 1">
            <a:extLst>
              <a:ext uri="{FF2B5EF4-FFF2-40B4-BE49-F238E27FC236}">
                <a16:creationId xmlns:a16="http://schemas.microsoft.com/office/drawing/2014/main" id="{D124316C-B65E-4CCF-8DE4-F7156790647A}"/>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52946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854027" y="1637849"/>
            <a:ext cx="7772400" cy="1829761"/>
          </a:xfrm>
        </p:spPr>
        <p:txBody>
          <a:bodyPr>
            <a:normAutofit fontScale="90000"/>
          </a:bodyPr>
          <a:lstStyle/>
          <a:p>
            <a:pPr algn="ctr"/>
            <a:r>
              <a:rPr lang="en-US" dirty="0"/>
              <a:t>Five Stages of Sleep</a:t>
            </a:r>
            <a:br>
              <a:rPr lang="en-US" dirty="0"/>
            </a:br>
            <a:br>
              <a:rPr lang="en-US" dirty="0">
                <a:effectLst/>
              </a:rPr>
            </a:br>
            <a:endParaRPr lang="en-US" b="1" dirty="0"/>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C9FBA5DC-08BE-485D-B997-1EBBB4D8539D}"/>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2180368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sz="2900" b="1" dirty="0"/>
              <a:t>Five Stages of Sleep</a:t>
            </a:r>
          </a:p>
          <a:p>
            <a:r>
              <a:rPr lang="en-US" sz="2900" dirty="0"/>
              <a:t>There are five sleep stages identified by changes in brain wave patterns that are measured by electroencephalographic (EEG) recordings.</a:t>
            </a:r>
            <a:endParaRPr lang="en-US" sz="2900" b="1" dirty="0"/>
          </a:p>
          <a:p>
            <a:pPr lvl="0"/>
            <a:r>
              <a:rPr lang="en-US" sz="2900" b="1" dirty="0"/>
              <a:t>Stages 1 through 4 </a:t>
            </a:r>
            <a:r>
              <a:rPr lang="en-US" sz="2900" dirty="0"/>
              <a:t>are characterized by increasingly slow brain wave and coincide with deepened sleep.</a:t>
            </a:r>
          </a:p>
          <a:p>
            <a:pPr lvl="0"/>
            <a:r>
              <a:rPr lang="en-US" sz="2900" b="1" dirty="0"/>
              <a:t>Stage 5 is rapid eye movement (REM) sle</a:t>
            </a:r>
            <a:r>
              <a:rPr lang="en-US" sz="2900" dirty="0"/>
              <a:t>ep and characterized by </a:t>
            </a:r>
            <a:r>
              <a:rPr lang="en-US" sz="2900" b="1" dirty="0"/>
              <a:t>vivid dreams </a:t>
            </a:r>
            <a:r>
              <a:rPr lang="en-US" sz="2900" dirty="0"/>
              <a:t>and comparably faster brain wave states.  </a:t>
            </a:r>
          </a:p>
          <a:p>
            <a:pPr lvl="0"/>
            <a:r>
              <a:rPr lang="en-US" sz="2900" dirty="0"/>
              <a:t>Person pass through each of the five stages in cycles of 1 to 2 hours.</a:t>
            </a:r>
          </a:p>
          <a:p>
            <a:pPr lvl="0"/>
            <a:r>
              <a:rPr lang="en-US" sz="2900" dirty="0"/>
              <a:t>There is mark variation individual variations in the time spend in each sleep cycle.  </a:t>
            </a:r>
          </a:p>
          <a:p>
            <a:pPr lvl="0"/>
            <a:r>
              <a:rPr lang="en-US" sz="2900" dirty="0"/>
              <a:t>Most people will experience all of the sleep stages in the course of the night.</a:t>
            </a:r>
          </a:p>
          <a:p>
            <a:pPr lvl="0"/>
            <a:r>
              <a:rPr lang="en-US" sz="2900" dirty="0"/>
              <a:t>Older adult experience sleep pattern changes with aging and will awaken several times during the night.</a:t>
            </a:r>
          </a:p>
          <a:p>
            <a:endParaRPr lang="en-US" dirty="0"/>
          </a:p>
        </p:txBody>
      </p:sp>
      <p:sp>
        <p:nvSpPr>
          <p:cNvPr id="2" name="Title 1"/>
          <p:cNvSpPr>
            <a:spLocks noGrp="1"/>
          </p:cNvSpPr>
          <p:nvPr>
            <p:ph type="title"/>
          </p:nvPr>
        </p:nvSpPr>
        <p:spPr/>
        <p:txBody>
          <a:bodyPr>
            <a:normAutofit fontScale="90000"/>
          </a:bodyPr>
          <a:lstStyle/>
          <a:p>
            <a:pPr algn="ctr"/>
            <a:r>
              <a:rPr lang="en-US" dirty="0">
                <a:solidFill>
                  <a:schemeClr val="tx1"/>
                </a:solidFill>
              </a:rPr>
              <a:t>Five Stages of Sleep</a:t>
            </a:r>
            <a:br>
              <a:rPr lang="en-US" dirty="0"/>
            </a:br>
            <a:endParaRPr lang="en-US" dirty="0"/>
          </a:p>
        </p:txBody>
      </p:sp>
      <p:sp>
        <p:nvSpPr>
          <p:cNvPr id="4" name="Footer Placeholder 3">
            <a:extLst>
              <a:ext uri="{FF2B5EF4-FFF2-40B4-BE49-F238E27FC236}">
                <a16:creationId xmlns:a16="http://schemas.microsoft.com/office/drawing/2014/main" id="{B716331A-CD3A-483B-9EF7-8C26FC727A62}"/>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br>
              <a:rPr lang="en-US" dirty="0">
                <a:effectLst/>
              </a:rPr>
            </a:br>
            <a:br>
              <a:rPr lang="en-US" dirty="0">
                <a:effectLst/>
              </a:rPr>
            </a:br>
            <a:br>
              <a:rPr lang="en-US" dirty="0">
                <a:effectLst/>
              </a:rPr>
            </a:br>
            <a:br>
              <a:rPr lang="en-US" dirty="0">
                <a:effectLst/>
              </a:rPr>
            </a:br>
            <a:br>
              <a:rPr lang="en-US" dirty="0">
                <a:effectLst/>
              </a:rPr>
            </a:br>
            <a:r>
              <a:rPr lang="en-US" sz="4400" dirty="0">
                <a:solidFill>
                  <a:schemeClr val="tx1"/>
                </a:solidFill>
                <a:effectLst/>
              </a:rPr>
              <a:t>Assessment of Sleep Patterns</a:t>
            </a:r>
            <a:br>
              <a:rPr lang="en-US" sz="4400" dirty="0">
                <a:effectLst/>
              </a:rPr>
            </a:br>
            <a:endParaRPr lang="en-US" sz="4400" b="1" dirty="0"/>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31F82ECF-A96C-45ED-B3C4-9B846196A4E4}"/>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722827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Assessment of Sleep Patterns</a:t>
            </a:r>
            <a:endParaRPr lang="en-US" dirty="0"/>
          </a:p>
          <a:p>
            <a:pPr lvl="0"/>
            <a:r>
              <a:rPr lang="en-US" dirty="0"/>
              <a:t>It is not enough to ask, “Did you sleep well last night?”</a:t>
            </a:r>
          </a:p>
          <a:p>
            <a:pPr lvl="0"/>
            <a:r>
              <a:rPr lang="en-US" dirty="0"/>
              <a:t>A nurse must inquire if the client </a:t>
            </a:r>
            <a:r>
              <a:rPr lang="en-US" b="1" dirty="0"/>
              <a:t>has/had difficulty falling asleep, experiences early awaking without the ability to return to sleep, and feel well rested in the morning.  </a:t>
            </a:r>
            <a:endParaRPr lang="en-US" dirty="0"/>
          </a:p>
          <a:p>
            <a:endParaRPr lang="en-US" dirty="0"/>
          </a:p>
        </p:txBody>
      </p:sp>
      <p:sp>
        <p:nvSpPr>
          <p:cNvPr id="2" name="Title 1"/>
          <p:cNvSpPr>
            <a:spLocks noGrp="1"/>
          </p:cNvSpPr>
          <p:nvPr>
            <p:ph type="title"/>
          </p:nvPr>
        </p:nvSpPr>
        <p:spPr/>
        <p:txBody>
          <a:bodyPr>
            <a:normAutofit fontScale="90000"/>
          </a:bodyPr>
          <a:lstStyle/>
          <a:p>
            <a:r>
              <a:rPr lang="en-US" dirty="0">
                <a:solidFill>
                  <a:schemeClr val="tx1"/>
                </a:solidFill>
              </a:rPr>
              <a:t>Assessment of Sleep Patterns (Cont.’)</a:t>
            </a:r>
            <a:br>
              <a:rPr lang="en-US" dirty="0"/>
            </a:br>
            <a:endParaRPr lang="en-US" dirty="0"/>
          </a:p>
        </p:txBody>
      </p:sp>
      <p:sp>
        <p:nvSpPr>
          <p:cNvPr id="4" name="Footer Placeholder 3">
            <a:extLst>
              <a:ext uri="{FF2B5EF4-FFF2-40B4-BE49-F238E27FC236}">
                <a16:creationId xmlns:a16="http://schemas.microsoft.com/office/drawing/2014/main" id="{DB10AA2F-D9B2-4B7A-919B-F3A30BA56FCB}"/>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357DD5-BA66-43FA-980D-E22D52FE14CF}"/>
              </a:ext>
            </a:extLst>
          </p:cNvPr>
          <p:cNvSpPr>
            <a:spLocks noGrp="1"/>
          </p:cNvSpPr>
          <p:nvPr>
            <p:ph idx="1"/>
          </p:nvPr>
        </p:nvSpPr>
        <p:spPr/>
        <p:txBody>
          <a:bodyPr>
            <a:normAutofit lnSpcReduction="10000"/>
          </a:bodyPr>
          <a:lstStyle/>
          <a:p>
            <a:r>
              <a:rPr lang="en-US" dirty="0"/>
              <a:t>About 30 percent to 50 percent of people with obstructive sleep apnea (OSA) report fatigue, apathy, and other mood disturbances that mimic or complicate treatment of depression. </a:t>
            </a:r>
          </a:p>
          <a:p>
            <a:r>
              <a:rPr lang="en-US" dirty="0"/>
              <a:t>Some antidepressants exacerbate OSA’s most common presenting symptom, sleepiness, and cause weight gain that worsens OSA, Seteria noted, adding that as many as 50 percent of people with chronic schizophrenia have OSA.</a:t>
            </a:r>
          </a:p>
          <a:p>
            <a:endParaRPr lang="en-US" dirty="0"/>
          </a:p>
        </p:txBody>
      </p:sp>
      <p:sp>
        <p:nvSpPr>
          <p:cNvPr id="3" name="Title 2">
            <a:extLst>
              <a:ext uri="{FF2B5EF4-FFF2-40B4-BE49-F238E27FC236}">
                <a16:creationId xmlns:a16="http://schemas.microsoft.com/office/drawing/2014/main" id="{247E60F1-32C3-4B09-9DF4-791D5AB48C10}"/>
              </a:ext>
            </a:extLst>
          </p:cNvPr>
          <p:cNvSpPr>
            <a:spLocks noGrp="1"/>
          </p:cNvSpPr>
          <p:nvPr>
            <p:ph type="title"/>
          </p:nvPr>
        </p:nvSpPr>
        <p:spPr/>
        <p:txBody>
          <a:bodyPr>
            <a:normAutofit fontScale="90000"/>
          </a:bodyPr>
          <a:lstStyle/>
          <a:p>
            <a:r>
              <a:rPr lang="en-US" dirty="0">
                <a:solidFill>
                  <a:schemeClr val="tx1"/>
                </a:solidFill>
              </a:rPr>
              <a:t>Assessment of Sleep Patterns (Cont.’)</a:t>
            </a:r>
            <a:br>
              <a:rPr lang="en-US" dirty="0"/>
            </a:br>
            <a:endParaRPr lang="en-US" dirty="0"/>
          </a:p>
        </p:txBody>
      </p:sp>
      <p:sp>
        <p:nvSpPr>
          <p:cNvPr id="4" name="Footer Placeholder 3">
            <a:extLst>
              <a:ext uri="{FF2B5EF4-FFF2-40B4-BE49-F238E27FC236}">
                <a16:creationId xmlns:a16="http://schemas.microsoft.com/office/drawing/2014/main" id="{A0937660-DFB9-4E92-9571-5384DBD071FE}"/>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301361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F49192-4377-429D-990D-990099ABE829}"/>
              </a:ext>
            </a:extLst>
          </p:cNvPr>
          <p:cNvSpPr>
            <a:spLocks noGrp="1"/>
          </p:cNvSpPr>
          <p:nvPr>
            <p:ph idx="1"/>
          </p:nvPr>
        </p:nvSpPr>
        <p:spPr/>
        <p:txBody>
          <a:bodyPr>
            <a:normAutofit fontScale="92500"/>
          </a:bodyPr>
          <a:lstStyle/>
          <a:p>
            <a:r>
              <a:rPr lang="en-US" dirty="0"/>
              <a:t>People with narcolepsy have an increased prevalence of depressive and anxiety disorders, and symptoms of these disorders may prompt the individual to first see a psychiatrist. </a:t>
            </a:r>
          </a:p>
          <a:p>
            <a:r>
              <a:rPr lang="en-US" dirty="0"/>
              <a:t>Approximately, </a:t>
            </a:r>
            <a:r>
              <a:rPr lang="en-US" b="1" dirty="0"/>
              <a:t>20 percent of people with narcolepsy report panic attacks or social phobias. Reports of inattentiveness, lack of energy, insomnia, and bizarre hallucinations,</a:t>
            </a:r>
            <a:r>
              <a:rPr lang="en-US" dirty="0"/>
              <a:t> particularly in </a:t>
            </a:r>
            <a:r>
              <a:rPr lang="en-US" b="1" dirty="0"/>
              <a:t>children and adolescents with narcoleps</a:t>
            </a:r>
            <a:r>
              <a:rPr lang="en-US" dirty="0"/>
              <a:t>y, may lead to a </a:t>
            </a:r>
            <a:r>
              <a:rPr lang="en-US" b="1" dirty="0"/>
              <a:t>misdiagnosis of schizophrenia or depressive disorders, he noted.</a:t>
            </a:r>
          </a:p>
          <a:p>
            <a:endParaRPr lang="en-US" dirty="0"/>
          </a:p>
        </p:txBody>
      </p:sp>
      <p:sp>
        <p:nvSpPr>
          <p:cNvPr id="3" name="Title 2">
            <a:extLst>
              <a:ext uri="{FF2B5EF4-FFF2-40B4-BE49-F238E27FC236}">
                <a16:creationId xmlns:a16="http://schemas.microsoft.com/office/drawing/2014/main" id="{1EC55786-2660-435F-86D4-483C96F84404}"/>
              </a:ext>
            </a:extLst>
          </p:cNvPr>
          <p:cNvSpPr>
            <a:spLocks noGrp="1"/>
          </p:cNvSpPr>
          <p:nvPr>
            <p:ph type="title"/>
          </p:nvPr>
        </p:nvSpPr>
        <p:spPr/>
        <p:txBody>
          <a:bodyPr>
            <a:normAutofit fontScale="90000"/>
          </a:bodyPr>
          <a:lstStyle/>
          <a:p>
            <a:r>
              <a:rPr lang="en-US" dirty="0">
                <a:solidFill>
                  <a:schemeClr val="tx1"/>
                </a:solidFill>
              </a:rPr>
              <a:t>Assessment of Sleep Patterns (Cont.’)</a:t>
            </a:r>
          </a:p>
        </p:txBody>
      </p:sp>
      <p:sp>
        <p:nvSpPr>
          <p:cNvPr id="4" name="Footer Placeholder 3">
            <a:extLst>
              <a:ext uri="{FF2B5EF4-FFF2-40B4-BE49-F238E27FC236}">
                <a16:creationId xmlns:a16="http://schemas.microsoft.com/office/drawing/2014/main" id="{5AF09EBF-4143-463E-8CD5-B2FFC9ED4055}"/>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798562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1EF006-3DD5-45FA-8F0A-CE2FADF2DFD5}"/>
              </a:ext>
            </a:extLst>
          </p:cNvPr>
          <p:cNvSpPr>
            <a:spLocks noGrp="1"/>
          </p:cNvSpPr>
          <p:nvPr>
            <p:ph idx="1"/>
          </p:nvPr>
        </p:nvSpPr>
        <p:spPr/>
        <p:txBody>
          <a:bodyPr>
            <a:normAutofit/>
          </a:bodyPr>
          <a:lstStyle/>
          <a:p>
            <a:r>
              <a:rPr lang="en-US" b="1" dirty="0"/>
              <a:t>Psychiatric disorders </a:t>
            </a:r>
            <a:r>
              <a:rPr lang="en-US" dirty="0"/>
              <a:t>also occur in </a:t>
            </a:r>
            <a:r>
              <a:rPr lang="en-US" b="1" dirty="0"/>
              <a:t>5 percent to 7 percent of people with hypersomnia. </a:t>
            </a:r>
            <a:r>
              <a:rPr lang="en-US" dirty="0"/>
              <a:t>Such individuals report daily episodes of an irrepressible need to sleep, or lapses into sleep, persisting at least three months. </a:t>
            </a:r>
          </a:p>
          <a:p>
            <a:r>
              <a:rPr lang="en-US" dirty="0"/>
              <a:t>As these people often focus on their sleep concerns, psychiatric symptoms may become apparent only after prolonged interviews or psychometric testing. </a:t>
            </a:r>
          </a:p>
          <a:p>
            <a:endParaRPr lang="en-US" dirty="0"/>
          </a:p>
        </p:txBody>
      </p:sp>
      <p:sp>
        <p:nvSpPr>
          <p:cNvPr id="3" name="Title 2">
            <a:extLst>
              <a:ext uri="{FF2B5EF4-FFF2-40B4-BE49-F238E27FC236}">
                <a16:creationId xmlns:a16="http://schemas.microsoft.com/office/drawing/2014/main" id="{0C0B4A39-04A0-4F8E-BB96-75F64D949139}"/>
              </a:ext>
            </a:extLst>
          </p:cNvPr>
          <p:cNvSpPr>
            <a:spLocks noGrp="1"/>
          </p:cNvSpPr>
          <p:nvPr>
            <p:ph type="title"/>
          </p:nvPr>
        </p:nvSpPr>
        <p:spPr/>
        <p:txBody>
          <a:bodyPr>
            <a:normAutofit fontScale="90000"/>
          </a:bodyPr>
          <a:lstStyle/>
          <a:p>
            <a:r>
              <a:rPr lang="en-US" dirty="0">
                <a:solidFill>
                  <a:schemeClr val="tx1"/>
                </a:solidFill>
              </a:rPr>
              <a:t>Assessment of Sleep Patterns (Cont.’)</a:t>
            </a:r>
          </a:p>
        </p:txBody>
      </p:sp>
      <p:sp>
        <p:nvSpPr>
          <p:cNvPr id="4" name="Footer Placeholder 3">
            <a:extLst>
              <a:ext uri="{FF2B5EF4-FFF2-40B4-BE49-F238E27FC236}">
                <a16:creationId xmlns:a16="http://schemas.microsoft.com/office/drawing/2014/main" id="{8DFDCCD5-A06D-4E37-8530-9A8549266FE3}"/>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2649496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EEB79E-4A70-4C90-B07F-1AE8217B6840}"/>
              </a:ext>
            </a:extLst>
          </p:cNvPr>
          <p:cNvSpPr>
            <a:spLocks noGrp="1"/>
          </p:cNvSpPr>
          <p:nvPr>
            <p:ph idx="1"/>
          </p:nvPr>
        </p:nvSpPr>
        <p:spPr/>
        <p:txBody>
          <a:bodyPr>
            <a:normAutofit/>
          </a:bodyPr>
          <a:lstStyle/>
          <a:p>
            <a:r>
              <a:rPr lang="en-US" b="1" dirty="0"/>
              <a:t>Psychiatric conditi</a:t>
            </a:r>
            <a:r>
              <a:rPr lang="en-US" dirty="0"/>
              <a:t>ons associated with </a:t>
            </a:r>
            <a:r>
              <a:rPr lang="en-US" b="1" dirty="0"/>
              <a:t>hypersomnia include mood disorders, conversion or undifferentiated somatoform disorder, and, less commonly, schizoaffective disorder, adjustment disorder, and personality disorders. </a:t>
            </a:r>
          </a:p>
          <a:p>
            <a:r>
              <a:rPr lang="en-US" dirty="0"/>
              <a:t>About half of individuals with </a:t>
            </a:r>
            <a:r>
              <a:rPr lang="en-US" b="1" dirty="0"/>
              <a:t>seasonal affective disorder also report hypersomnia</a:t>
            </a:r>
            <a:r>
              <a:rPr lang="en-US" dirty="0"/>
              <a:t>.</a:t>
            </a:r>
          </a:p>
          <a:p>
            <a:endParaRPr lang="en-US" dirty="0"/>
          </a:p>
        </p:txBody>
      </p:sp>
      <p:sp>
        <p:nvSpPr>
          <p:cNvPr id="3" name="Title 2">
            <a:extLst>
              <a:ext uri="{FF2B5EF4-FFF2-40B4-BE49-F238E27FC236}">
                <a16:creationId xmlns:a16="http://schemas.microsoft.com/office/drawing/2014/main" id="{8A6766AF-F1AB-4D45-9943-08475781ACA8}"/>
              </a:ext>
            </a:extLst>
          </p:cNvPr>
          <p:cNvSpPr>
            <a:spLocks noGrp="1"/>
          </p:cNvSpPr>
          <p:nvPr>
            <p:ph type="title"/>
          </p:nvPr>
        </p:nvSpPr>
        <p:spPr/>
        <p:txBody>
          <a:bodyPr>
            <a:normAutofit fontScale="90000"/>
          </a:bodyPr>
          <a:lstStyle/>
          <a:p>
            <a:r>
              <a:rPr lang="en-US" dirty="0">
                <a:solidFill>
                  <a:schemeClr val="tx1"/>
                </a:solidFill>
              </a:rPr>
              <a:t>Assessment of Sleep Patterns (Cont.’)</a:t>
            </a:r>
          </a:p>
        </p:txBody>
      </p:sp>
      <p:sp>
        <p:nvSpPr>
          <p:cNvPr id="4" name="Footer Placeholder 3">
            <a:extLst>
              <a:ext uri="{FF2B5EF4-FFF2-40B4-BE49-F238E27FC236}">
                <a16:creationId xmlns:a16="http://schemas.microsoft.com/office/drawing/2014/main" id="{1C5A213D-1DD8-4ADF-B923-3F66B88F9664}"/>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975941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1EE1BF-F9F0-46A4-A389-0509EEEA1EB0}"/>
              </a:ext>
            </a:extLst>
          </p:cNvPr>
          <p:cNvSpPr>
            <a:spLocks noGrp="1"/>
          </p:cNvSpPr>
          <p:nvPr>
            <p:ph idx="1"/>
          </p:nvPr>
        </p:nvSpPr>
        <p:spPr/>
        <p:txBody>
          <a:bodyPr/>
          <a:lstStyle/>
          <a:p>
            <a:r>
              <a:rPr lang="en-US" dirty="0"/>
              <a:t>Asking patients with </a:t>
            </a:r>
            <a:r>
              <a:rPr lang="en-US" b="1" dirty="0"/>
              <a:t>excessive sleepiness if they snore, experience abrupt loss of muscle tone or hallucinations at sleep onset, or doze involuntarily,   may be uncover sleep disorders</a:t>
            </a:r>
          </a:p>
        </p:txBody>
      </p:sp>
      <p:sp>
        <p:nvSpPr>
          <p:cNvPr id="3" name="Title 2">
            <a:extLst>
              <a:ext uri="{FF2B5EF4-FFF2-40B4-BE49-F238E27FC236}">
                <a16:creationId xmlns:a16="http://schemas.microsoft.com/office/drawing/2014/main" id="{A95A5C79-1707-4888-A148-45D1DE489DFA}"/>
              </a:ext>
            </a:extLst>
          </p:cNvPr>
          <p:cNvSpPr>
            <a:spLocks noGrp="1"/>
          </p:cNvSpPr>
          <p:nvPr>
            <p:ph type="title"/>
          </p:nvPr>
        </p:nvSpPr>
        <p:spPr/>
        <p:txBody>
          <a:bodyPr>
            <a:normAutofit fontScale="90000"/>
          </a:bodyPr>
          <a:lstStyle/>
          <a:p>
            <a:r>
              <a:rPr lang="en-US" dirty="0">
                <a:solidFill>
                  <a:schemeClr val="tx1"/>
                </a:solidFill>
              </a:rPr>
              <a:t>Assessment of Sleep Patterns (Cont.’)</a:t>
            </a:r>
          </a:p>
        </p:txBody>
      </p:sp>
      <p:sp>
        <p:nvSpPr>
          <p:cNvPr id="4" name="Footer Placeholder 3">
            <a:extLst>
              <a:ext uri="{FF2B5EF4-FFF2-40B4-BE49-F238E27FC236}">
                <a16:creationId xmlns:a16="http://schemas.microsoft.com/office/drawing/2014/main" id="{9AF8D05F-17BB-4C49-9E50-F15EF4364B52}"/>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909892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Questions for the nurse to ask are:</a:t>
            </a:r>
          </a:p>
          <a:p>
            <a:pPr lvl="0"/>
            <a:r>
              <a:rPr lang="en-US" dirty="0"/>
              <a:t>How long does it take you to fall asleep at night?</a:t>
            </a:r>
          </a:p>
          <a:p>
            <a:pPr lvl="0"/>
            <a:r>
              <a:rPr lang="en-US" dirty="0"/>
              <a:t>Do you awaken during the night?  If yes, how many times in a typical night?</a:t>
            </a:r>
          </a:p>
          <a:p>
            <a:pPr lvl="0"/>
            <a:r>
              <a:rPr lang="en-US" dirty="0"/>
              <a:t>If you do awaken at night, can you get back to sleep?</a:t>
            </a:r>
          </a:p>
          <a:p>
            <a:pPr lvl="0"/>
            <a:r>
              <a:rPr lang="en-US" dirty="0"/>
              <a:t>Do you feel well rested in the morning?</a:t>
            </a:r>
          </a:p>
          <a:p>
            <a:pPr lvl="0"/>
            <a:r>
              <a:rPr lang="en-US" dirty="0"/>
              <a:t>Do you have enough energy to perform your tasks during the day?</a:t>
            </a:r>
          </a:p>
          <a:p>
            <a:pPr lvl="0"/>
            <a:r>
              <a:rPr lang="en-US" dirty="0"/>
              <a:t>Do you find yourself nodding off or sleeping during the classes or meetings or while watching TV or movies?</a:t>
            </a:r>
          </a:p>
          <a:p>
            <a:endParaRPr lang="en-US" dirty="0"/>
          </a:p>
        </p:txBody>
      </p:sp>
      <p:sp>
        <p:nvSpPr>
          <p:cNvPr id="3" name="Title 2"/>
          <p:cNvSpPr>
            <a:spLocks noGrp="1"/>
          </p:cNvSpPr>
          <p:nvPr>
            <p:ph type="title"/>
          </p:nvPr>
        </p:nvSpPr>
        <p:spPr/>
        <p:txBody>
          <a:bodyPr>
            <a:normAutofit fontScale="90000"/>
          </a:bodyPr>
          <a:lstStyle/>
          <a:p>
            <a:r>
              <a:rPr lang="en-US" dirty="0">
                <a:solidFill>
                  <a:schemeClr val="tx1"/>
                </a:solidFill>
              </a:rPr>
              <a:t>Assessment of Sleep Patterns (Cont.’)</a:t>
            </a:r>
          </a:p>
        </p:txBody>
      </p:sp>
      <p:sp>
        <p:nvSpPr>
          <p:cNvPr id="4" name="Footer Placeholder 3">
            <a:extLst>
              <a:ext uri="{FF2B5EF4-FFF2-40B4-BE49-F238E27FC236}">
                <a16:creationId xmlns:a16="http://schemas.microsoft.com/office/drawing/2014/main" id="{28D48B0E-6DEF-4E52-8DED-345ED4CDF5A6}"/>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Content Placeholder 1"/>
          <p:cNvSpPr>
            <a:spLocks noGrp="1"/>
          </p:cNvSpPr>
          <p:nvPr>
            <p:ph idx="1"/>
          </p:nvPr>
        </p:nvSpPr>
        <p:spPr/>
        <p:txBody>
          <a:bodyPr>
            <a:normAutofit/>
          </a:bodyPr>
          <a:lstStyle/>
          <a:p>
            <a:r>
              <a:rPr lang="en-US" dirty="0"/>
              <a:t>Evaluate with the client whether there have been any environmental changes associated with the bedroom or household that could be influencing changes in sleep cycle.  </a:t>
            </a:r>
          </a:p>
          <a:p>
            <a:r>
              <a:rPr lang="en-US" dirty="0"/>
              <a:t>Questions for the nurse to ask are:</a:t>
            </a:r>
          </a:p>
          <a:p>
            <a:pPr lvl="1"/>
            <a:r>
              <a:rPr lang="en-US" dirty="0"/>
              <a:t>Have you change where you sleep?</a:t>
            </a:r>
          </a:p>
          <a:p>
            <a:pPr lvl="1"/>
            <a:r>
              <a:rPr lang="en-US" dirty="0"/>
              <a:t>Have there been any changes in your household that could affect your sleeping?</a:t>
            </a:r>
          </a:p>
          <a:p>
            <a:pPr lvl="1"/>
            <a:r>
              <a:rPr lang="en-US" dirty="0"/>
              <a:t>Have there been any changes in your environment (neighbor, traffic) that could affect your sleeping?</a:t>
            </a:r>
          </a:p>
          <a:p>
            <a:endParaRPr lang="en-US" dirty="0"/>
          </a:p>
        </p:txBody>
      </p:sp>
      <p:sp>
        <p:nvSpPr>
          <p:cNvPr id="53250" name="Title 2"/>
          <p:cNvSpPr>
            <a:spLocks noGrp="1"/>
          </p:cNvSpPr>
          <p:nvPr>
            <p:ph type="title"/>
          </p:nvPr>
        </p:nvSpPr>
        <p:spPr/>
        <p:txBody>
          <a:bodyPr>
            <a:normAutofit fontScale="90000"/>
          </a:bodyPr>
          <a:lstStyle/>
          <a:p>
            <a:r>
              <a:rPr lang="en-US" dirty="0"/>
              <a:t>Assessment of Sleep Patterns (Cont.’)</a:t>
            </a:r>
          </a:p>
        </p:txBody>
      </p:sp>
      <p:sp>
        <p:nvSpPr>
          <p:cNvPr id="2" name="Footer Placeholder 1">
            <a:extLst>
              <a:ext uri="{FF2B5EF4-FFF2-40B4-BE49-F238E27FC236}">
                <a16:creationId xmlns:a16="http://schemas.microsoft.com/office/drawing/2014/main" id="{091EEEE6-0824-40BF-A366-26B9AB00CE6B}"/>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Determine whether there has been any emotional stressors that could be contributing to an inability to sleep (neighbors, traffic) that could affect your sleeping?</a:t>
            </a:r>
          </a:p>
          <a:p>
            <a:r>
              <a:rPr lang="en-US" dirty="0"/>
              <a:t>A question for the nurse to ask is:</a:t>
            </a:r>
          </a:p>
          <a:p>
            <a:pPr lvl="1"/>
            <a:r>
              <a:rPr lang="en-US" dirty="0"/>
              <a:t>Do you find yourself at night worrying about your problem or an upcoming activity?</a:t>
            </a:r>
          </a:p>
          <a:p>
            <a:endParaRPr lang="en-US" dirty="0"/>
          </a:p>
        </p:txBody>
      </p:sp>
      <p:sp>
        <p:nvSpPr>
          <p:cNvPr id="2" name="Title 1"/>
          <p:cNvSpPr>
            <a:spLocks noGrp="1"/>
          </p:cNvSpPr>
          <p:nvPr>
            <p:ph type="title"/>
          </p:nvPr>
        </p:nvSpPr>
        <p:spPr/>
        <p:txBody>
          <a:bodyPr>
            <a:normAutofit fontScale="90000"/>
          </a:bodyPr>
          <a:lstStyle/>
          <a:p>
            <a:r>
              <a:rPr lang="en-US" dirty="0">
                <a:solidFill>
                  <a:schemeClr val="tx1"/>
                </a:solidFill>
              </a:rPr>
              <a:t>Assessment of Sleep Patterns (Cont.’)</a:t>
            </a:r>
            <a:endParaRPr lang="en-US" b="1" dirty="0">
              <a:solidFill>
                <a:schemeClr val="tx1"/>
              </a:solidFill>
            </a:endParaRPr>
          </a:p>
        </p:txBody>
      </p:sp>
      <p:sp>
        <p:nvSpPr>
          <p:cNvPr id="4" name="Footer Placeholder 3">
            <a:extLst>
              <a:ext uri="{FF2B5EF4-FFF2-40B4-BE49-F238E27FC236}">
                <a16:creationId xmlns:a16="http://schemas.microsoft.com/office/drawing/2014/main" id="{CA8DD3B7-1DFC-48DF-BF8F-E60BAD732285}"/>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br>
              <a:rPr lang="en-US" dirty="0">
                <a:effectLst/>
              </a:rPr>
            </a:br>
            <a:br>
              <a:rPr lang="en-US" dirty="0">
                <a:effectLst/>
              </a:rPr>
            </a:br>
            <a:br>
              <a:rPr lang="en-US" dirty="0">
                <a:effectLst/>
              </a:rPr>
            </a:br>
            <a:br>
              <a:rPr lang="en-US" dirty="0">
                <a:effectLst/>
              </a:rPr>
            </a:br>
            <a:br>
              <a:rPr lang="en-US" dirty="0">
                <a:effectLst/>
              </a:rPr>
            </a:br>
            <a:r>
              <a:rPr lang="en-US" sz="4400" dirty="0">
                <a:solidFill>
                  <a:schemeClr val="tx1"/>
                </a:solidFill>
                <a:effectLst/>
              </a:rPr>
              <a:t>DSM-5 Diagnoses of Sleep Disorders</a:t>
            </a:r>
            <a:br>
              <a:rPr lang="en-US" sz="4400" dirty="0"/>
            </a:br>
            <a:endParaRPr lang="en-US" sz="4400" b="1" dirty="0"/>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9D470985-9376-4234-BD23-60F82D128487}"/>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384375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106EA4-900D-481C-87BE-684F8CBB15FB}"/>
              </a:ext>
            </a:extLst>
          </p:cNvPr>
          <p:cNvSpPr>
            <a:spLocks noGrp="1"/>
          </p:cNvSpPr>
          <p:nvPr>
            <p:ph idx="1"/>
          </p:nvPr>
        </p:nvSpPr>
        <p:spPr/>
        <p:txBody>
          <a:bodyPr>
            <a:normAutofit fontScale="77500" lnSpcReduction="20000"/>
          </a:bodyPr>
          <a:lstStyle/>
          <a:p>
            <a:r>
              <a:rPr lang="en-US" dirty="0"/>
              <a:t>Name: </a:t>
            </a:r>
            <a:r>
              <a:rPr lang="en-US" b="1" dirty="0"/>
              <a:t>Insomnia Disorder</a:t>
            </a:r>
          </a:p>
          <a:p>
            <a:r>
              <a:rPr lang="en-US" dirty="0"/>
              <a:t>Disorder Class: </a:t>
            </a:r>
            <a:r>
              <a:rPr lang="en-US" b="1" dirty="0"/>
              <a:t>Sleep-Wake Disorders</a:t>
            </a:r>
          </a:p>
          <a:p>
            <a:r>
              <a:rPr lang="en-US" dirty="0"/>
              <a:t>A. A predominant complaint of dissatisfaction with sleep quantity or quality, associated with one (or more) of the following symptoms: Difficulty initiating sleep. (In children, this may manifest as difficulty initiating sleep without caregiver intervention.)</a:t>
            </a:r>
          </a:p>
          <a:p>
            <a:r>
              <a:rPr lang="en-US" dirty="0"/>
              <a:t>Difficulty maintaining sleep, characterized by frequent awakenings or problems returning to sleep after awakenings. (In children, this may manifest as difficulty returning to sleep without caregiver intervention.)</a:t>
            </a:r>
          </a:p>
          <a:p>
            <a:r>
              <a:rPr lang="en-US" dirty="0"/>
              <a:t>Early-morning awakening with inability to return to sleep.</a:t>
            </a:r>
          </a:p>
          <a:p>
            <a:r>
              <a:rPr lang="en-US" dirty="0"/>
              <a:t>D. The sleep difficulty is present for at least 3 months</a:t>
            </a:r>
          </a:p>
          <a:p>
            <a:endParaRPr lang="en-US" dirty="0"/>
          </a:p>
        </p:txBody>
      </p:sp>
      <p:sp>
        <p:nvSpPr>
          <p:cNvPr id="3" name="Title 2">
            <a:extLst>
              <a:ext uri="{FF2B5EF4-FFF2-40B4-BE49-F238E27FC236}">
                <a16:creationId xmlns:a16="http://schemas.microsoft.com/office/drawing/2014/main" id="{B282C9C4-1DC7-4FE7-A63E-54B5D3F18D70}"/>
              </a:ext>
            </a:extLst>
          </p:cNvPr>
          <p:cNvSpPr>
            <a:spLocks noGrp="1"/>
          </p:cNvSpPr>
          <p:nvPr>
            <p:ph type="title"/>
          </p:nvPr>
        </p:nvSpPr>
        <p:spPr/>
        <p:txBody>
          <a:bodyPr>
            <a:normAutofit fontScale="90000"/>
          </a:bodyPr>
          <a:lstStyle/>
          <a:p>
            <a:r>
              <a:rPr lang="en-US" sz="40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3C9D30C2-C190-4AA8-A479-6040B24AB2AA}"/>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5613642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A382D8-AE13-47FF-8381-6714FF5F05D2}"/>
              </a:ext>
            </a:extLst>
          </p:cNvPr>
          <p:cNvSpPr>
            <a:spLocks noGrp="1"/>
          </p:cNvSpPr>
          <p:nvPr>
            <p:ph idx="1"/>
          </p:nvPr>
        </p:nvSpPr>
        <p:spPr/>
        <p:txBody>
          <a:bodyPr>
            <a:normAutofit fontScale="92500" lnSpcReduction="20000"/>
          </a:bodyPr>
          <a:lstStyle/>
          <a:p>
            <a:r>
              <a:rPr lang="en-US" dirty="0"/>
              <a:t>The sleep disturbance causes clinically significant distress or impairment in social, occupational, educational, academic, behavioral, or other important areas of functioning.</a:t>
            </a:r>
          </a:p>
          <a:p>
            <a:r>
              <a:rPr lang="en-US" dirty="0"/>
              <a:t>C. The sleep difficulty occurs at least 3 nights per week.</a:t>
            </a:r>
          </a:p>
          <a:p>
            <a:r>
              <a:rPr lang="en-US" dirty="0"/>
              <a:t>E. The sleep difficulty occurs despite adequate opportunity for sleep.</a:t>
            </a:r>
          </a:p>
          <a:p>
            <a:r>
              <a:rPr lang="en-US" dirty="0"/>
              <a:t>F. The insomnia is not better explained by and does not occur exclusively during the course of another sleep-wake disorder (e.g., narcolepsy, a breathing-related sleep disorder, a circadian rhythm sleep-wake disorder, a parasomnia).</a:t>
            </a:r>
          </a:p>
        </p:txBody>
      </p:sp>
      <p:sp>
        <p:nvSpPr>
          <p:cNvPr id="3" name="Title 2">
            <a:extLst>
              <a:ext uri="{FF2B5EF4-FFF2-40B4-BE49-F238E27FC236}">
                <a16:creationId xmlns:a16="http://schemas.microsoft.com/office/drawing/2014/main" id="{B54621A0-5D85-4A30-841B-4E06AB5BDC3B}"/>
              </a:ext>
            </a:extLst>
          </p:cNvPr>
          <p:cNvSpPr>
            <a:spLocks noGrp="1"/>
          </p:cNvSpPr>
          <p:nvPr>
            <p:ph type="title"/>
          </p:nvPr>
        </p:nvSpPr>
        <p:spPr/>
        <p:txBody>
          <a:bodyPr>
            <a:normAutofit fontScale="90000"/>
          </a:bodyPr>
          <a:lstStyle/>
          <a:p>
            <a:r>
              <a:rPr lang="en-US" sz="44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C11A52C5-FD1F-459A-92E2-BF994E83A99B}"/>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725844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A12089-BC05-452C-9CAF-78A68466B547}"/>
              </a:ext>
            </a:extLst>
          </p:cNvPr>
          <p:cNvSpPr>
            <a:spLocks noGrp="1"/>
          </p:cNvSpPr>
          <p:nvPr>
            <p:ph idx="1"/>
          </p:nvPr>
        </p:nvSpPr>
        <p:spPr/>
        <p:txBody>
          <a:bodyPr/>
          <a:lstStyle/>
          <a:p>
            <a:r>
              <a:rPr lang="en-US" dirty="0"/>
              <a:t>F. The insomnia is not better explained by and does not occur exclusively during the course of another sleep-wake disorder (e.g., narcolepsy, a breathing-related sleep disorder, a</a:t>
            </a:r>
            <a:r>
              <a:rPr lang="en-US" b="1" dirty="0"/>
              <a:t> circadian rhythm sleep-wake disorder, a parasomnia).</a:t>
            </a:r>
          </a:p>
          <a:p>
            <a:r>
              <a:rPr lang="en-US" dirty="0"/>
              <a:t>G. The </a:t>
            </a:r>
            <a:r>
              <a:rPr lang="en-US" b="1" dirty="0"/>
              <a:t>insomnia</a:t>
            </a:r>
            <a:r>
              <a:rPr lang="en-US" dirty="0"/>
              <a:t> is </a:t>
            </a:r>
            <a:r>
              <a:rPr lang="en-US" b="1" dirty="0"/>
              <a:t>not attributable </a:t>
            </a:r>
            <a:r>
              <a:rPr lang="en-US" dirty="0"/>
              <a:t>to the </a:t>
            </a:r>
            <a:r>
              <a:rPr lang="en-US" b="1" dirty="0"/>
              <a:t>physiological effects of a substance (e.g., a drug of abuse, a medication).</a:t>
            </a:r>
          </a:p>
        </p:txBody>
      </p:sp>
      <p:sp>
        <p:nvSpPr>
          <p:cNvPr id="3" name="Title 2">
            <a:extLst>
              <a:ext uri="{FF2B5EF4-FFF2-40B4-BE49-F238E27FC236}">
                <a16:creationId xmlns:a16="http://schemas.microsoft.com/office/drawing/2014/main" id="{4DA2719A-604B-442D-B9FF-BB46B099DB28}"/>
              </a:ext>
            </a:extLst>
          </p:cNvPr>
          <p:cNvSpPr>
            <a:spLocks noGrp="1"/>
          </p:cNvSpPr>
          <p:nvPr>
            <p:ph type="title"/>
          </p:nvPr>
        </p:nvSpPr>
        <p:spPr/>
        <p:txBody>
          <a:bodyPr>
            <a:normAutofit fontScale="90000"/>
          </a:bodyPr>
          <a:lstStyle/>
          <a:p>
            <a:r>
              <a:rPr lang="en-US" sz="4400" dirty="0">
                <a:effectLst/>
              </a:rPr>
              <a:t>DSM-5 Diagnoses of Sleep Disorders (Cont.’)</a:t>
            </a:r>
            <a:endParaRPr lang="en-US" dirty="0"/>
          </a:p>
        </p:txBody>
      </p:sp>
      <p:sp>
        <p:nvSpPr>
          <p:cNvPr id="4" name="Footer Placeholder 3">
            <a:extLst>
              <a:ext uri="{FF2B5EF4-FFF2-40B4-BE49-F238E27FC236}">
                <a16:creationId xmlns:a16="http://schemas.microsoft.com/office/drawing/2014/main" id="{6CC396D8-4656-4E44-9FFE-B2E443AC4E01}"/>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085250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95F92B-979F-406C-B5D3-9CADC29049FF}"/>
              </a:ext>
            </a:extLst>
          </p:cNvPr>
          <p:cNvSpPr>
            <a:spLocks noGrp="1"/>
          </p:cNvSpPr>
          <p:nvPr>
            <p:ph idx="1"/>
          </p:nvPr>
        </p:nvSpPr>
        <p:spPr/>
        <p:txBody>
          <a:bodyPr>
            <a:normAutofit lnSpcReduction="10000"/>
          </a:bodyPr>
          <a:lstStyle/>
          <a:p>
            <a:r>
              <a:rPr lang="en-US" b="1" dirty="0"/>
              <a:t>Specify if</a:t>
            </a:r>
            <a:r>
              <a:rPr lang="en-US" dirty="0"/>
              <a:t>: With non-sleep disorder mental comorbidity, including substance use disorders</a:t>
            </a:r>
          </a:p>
          <a:p>
            <a:r>
              <a:rPr lang="en-US" dirty="0"/>
              <a:t>With other medical comorbidity</a:t>
            </a:r>
          </a:p>
          <a:p>
            <a:r>
              <a:rPr lang="en-US" dirty="0"/>
              <a:t>With other sleep disorder</a:t>
            </a:r>
          </a:p>
          <a:p>
            <a:r>
              <a:rPr lang="en-US" dirty="0"/>
              <a:t>Coding note: The code 780.52 (G47.00) applies to all three specifiers. Code also the relevant associated mental disorder, medical condition, or other sleep disorder immediately after the code for insomnia disorder in order to indicate the association.</a:t>
            </a:r>
          </a:p>
          <a:p>
            <a:endParaRPr lang="en-US" dirty="0"/>
          </a:p>
        </p:txBody>
      </p:sp>
      <p:sp>
        <p:nvSpPr>
          <p:cNvPr id="3" name="Title 2">
            <a:extLst>
              <a:ext uri="{FF2B5EF4-FFF2-40B4-BE49-F238E27FC236}">
                <a16:creationId xmlns:a16="http://schemas.microsoft.com/office/drawing/2014/main" id="{B0B3E97F-6F61-449B-998A-4E77D51E191C}"/>
              </a:ext>
            </a:extLst>
          </p:cNvPr>
          <p:cNvSpPr>
            <a:spLocks noGrp="1"/>
          </p:cNvSpPr>
          <p:nvPr>
            <p:ph type="title"/>
          </p:nvPr>
        </p:nvSpPr>
        <p:spPr/>
        <p:txBody>
          <a:bodyPr>
            <a:normAutofit fontScale="90000"/>
          </a:bodyPr>
          <a:lstStyle/>
          <a:p>
            <a:r>
              <a:rPr lang="en-US" sz="44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860C3BD5-8728-4AE2-9211-84B6AF87FE9B}"/>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2955277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15EB32-2CBD-4A80-A82B-18529EC38C9D}"/>
              </a:ext>
            </a:extLst>
          </p:cNvPr>
          <p:cNvSpPr>
            <a:spLocks noGrp="1"/>
          </p:cNvSpPr>
          <p:nvPr>
            <p:ph idx="1"/>
          </p:nvPr>
        </p:nvSpPr>
        <p:spPr/>
        <p:txBody>
          <a:bodyPr/>
          <a:lstStyle/>
          <a:p>
            <a:r>
              <a:rPr lang="en-US" b="1" dirty="0"/>
              <a:t>Specify if</a:t>
            </a:r>
            <a:r>
              <a:rPr lang="en-US" dirty="0"/>
              <a:t>: Episodic: Symptoms last at least 1 month but less than 3 months.</a:t>
            </a:r>
          </a:p>
          <a:p>
            <a:r>
              <a:rPr lang="en-US" dirty="0"/>
              <a:t>Persistent: Symptoms last 3 months or longer.</a:t>
            </a:r>
          </a:p>
          <a:p>
            <a:r>
              <a:rPr lang="en-US" dirty="0"/>
              <a:t>Recurrent: Two (or more) episodes within the space of 1 year.</a:t>
            </a:r>
          </a:p>
          <a:p>
            <a:endParaRPr lang="en-US" dirty="0"/>
          </a:p>
        </p:txBody>
      </p:sp>
      <p:sp>
        <p:nvSpPr>
          <p:cNvPr id="3" name="Title 2">
            <a:extLst>
              <a:ext uri="{FF2B5EF4-FFF2-40B4-BE49-F238E27FC236}">
                <a16:creationId xmlns:a16="http://schemas.microsoft.com/office/drawing/2014/main" id="{EE146E23-24E8-4F17-AD91-ADA4EA0351F5}"/>
              </a:ext>
            </a:extLst>
          </p:cNvPr>
          <p:cNvSpPr>
            <a:spLocks noGrp="1"/>
          </p:cNvSpPr>
          <p:nvPr>
            <p:ph type="title"/>
          </p:nvPr>
        </p:nvSpPr>
        <p:spPr/>
        <p:txBody>
          <a:bodyPr>
            <a:normAutofit fontScale="90000"/>
          </a:bodyPr>
          <a:lstStyle/>
          <a:p>
            <a:r>
              <a:rPr lang="en-US" sz="44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C0F36AB3-DA91-4E41-8365-2BCB1928FA18}"/>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105815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3C70E8-4428-4456-9356-28BDCD7394F8}"/>
              </a:ext>
            </a:extLst>
          </p:cNvPr>
          <p:cNvSpPr>
            <a:spLocks noGrp="1"/>
          </p:cNvSpPr>
          <p:nvPr>
            <p:ph idx="1"/>
          </p:nvPr>
        </p:nvSpPr>
        <p:spPr/>
        <p:txBody>
          <a:bodyPr/>
          <a:lstStyle/>
          <a:p>
            <a:r>
              <a:rPr lang="en-US" b="1" dirty="0"/>
              <a:t>Note</a:t>
            </a:r>
            <a:r>
              <a:rPr lang="en-US" dirty="0"/>
              <a:t>: </a:t>
            </a:r>
            <a:r>
              <a:rPr lang="en-US" b="1" dirty="0"/>
              <a:t>Acute and short-term insomnia </a:t>
            </a:r>
            <a:r>
              <a:rPr lang="en-US" dirty="0"/>
              <a:t>(i.e., symptoms lasting </a:t>
            </a:r>
            <a:r>
              <a:rPr lang="en-US" b="1" dirty="0"/>
              <a:t>less than 3 months </a:t>
            </a:r>
            <a:r>
              <a:rPr lang="en-US" dirty="0"/>
              <a:t>but otherwise meeting all criteria with regard to frequency, intensity, distress, and/or impairment) should be coded as another specified insomnia disorder</a:t>
            </a:r>
          </a:p>
        </p:txBody>
      </p:sp>
      <p:sp>
        <p:nvSpPr>
          <p:cNvPr id="3" name="Title 2">
            <a:extLst>
              <a:ext uri="{FF2B5EF4-FFF2-40B4-BE49-F238E27FC236}">
                <a16:creationId xmlns:a16="http://schemas.microsoft.com/office/drawing/2014/main" id="{03D9FC3E-01D5-46CA-89C2-0C34F10D2B57}"/>
              </a:ext>
            </a:extLst>
          </p:cNvPr>
          <p:cNvSpPr>
            <a:spLocks noGrp="1"/>
          </p:cNvSpPr>
          <p:nvPr>
            <p:ph type="title"/>
          </p:nvPr>
        </p:nvSpPr>
        <p:spPr/>
        <p:txBody>
          <a:bodyPr>
            <a:normAutofit fontScale="90000"/>
          </a:bodyPr>
          <a:lstStyle/>
          <a:p>
            <a:r>
              <a:rPr lang="en-US" sz="44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B96EBD66-2CE5-49F3-9683-936688E7E469}"/>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8829210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EB7CEA-1E57-4C36-98B4-EC0F2CF74E99}"/>
              </a:ext>
            </a:extLst>
          </p:cNvPr>
          <p:cNvSpPr>
            <a:spLocks noGrp="1"/>
          </p:cNvSpPr>
          <p:nvPr>
            <p:ph idx="1"/>
          </p:nvPr>
        </p:nvSpPr>
        <p:spPr/>
        <p:txBody>
          <a:bodyPr/>
          <a:lstStyle/>
          <a:p>
            <a:r>
              <a:rPr lang="en-US" dirty="0"/>
              <a:t>Sleep-wake disorders comprise 11 diagnostic groups:</a:t>
            </a:r>
          </a:p>
          <a:p>
            <a:r>
              <a:rPr lang="en-US" dirty="0"/>
              <a:t>• Insomnia disorder</a:t>
            </a:r>
          </a:p>
          <a:p>
            <a:r>
              <a:rPr lang="en-US" dirty="0"/>
              <a:t>• Hypersomnolence disorder</a:t>
            </a:r>
          </a:p>
          <a:p>
            <a:r>
              <a:rPr lang="en-US" dirty="0"/>
              <a:t>• Narcolepsy</a:t>
            </a:r>
          </a:p>
          <a:p>
            <a:r>
              <a:rPr lang="en-US" dirty="0"/>
              <a:t>• Obstructive sleep apnea hypopnea</a:t>
            </a:r>
          </a:p>
          <a:p>
            <a:r>
              <a:rPr lang="en-US" dirty="0"/>
              <a:t>• Central sleep apnea</a:t>
            </a:r>
          </a:p>
          <a:p>
            <a:r>
              <a:rPr lang="en-US" dirty="0"/>
              <a:t>• Sleep-related hypoventilation</a:t>
            </a:r>
          </a:p>
          <a:p>
            <a:r>
              <a:rPr lang="en-US" dirty="0"/>
              <a:t>• Circadian rhythm sleep-wake disorders</a:t>
            </a:r>
          </a:p>
          <a:p>
            <a:endParaRPr lang="en-US" dirty="0"/>
          </a:p>
        </p:txBody>
      </p:sp>
      <p:sp>
        <p:nvSpPr>
          <p:cNvPr id="3" name="Title 2">
            <a:extLst>
              <a:ext uri="{FF2B5EF4-FFF2-40B4-BE49-F238E27FC236}">
                <a16:creationId xmlns:a16="http://schemas.microsoft.com/office/drawing/2014/main" id="{E27BDF75-FAA1-413D-A50B-17B27F2AA983}"/>
              </a:ext>
            </a:extLst>
          </p:cNvPr>
          <p:cNvSpPr>
            <a:spLocks noGrp="1"/>
          </p:cNvSpPr>
          <p:nvPr>
            <p:ph type="title"/>
          </p:nvPr>
        </p:nvSpPr>
        <p:spPr/>
        <p:txBody>
          <a:bodyPr>
            <a:normAutofit fontScale="90000"/>
          </a:bodyPr>
          <a:lstStyle/>
          <a:p>
            <a:r>
              <a:rPr lang="en-US" sz="40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44E57625-9C60-4B51-A6D4-8124197B3332}"/>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190814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63B50B-5168-4194-947F-68D681D07D74}"/>
              </a:ext>
            </a:extLst>
          </p:cNvPr>
          <p:cNvSpPr>
            <a:spLocks noGrp="1"/>
          </p:cNvSpPr>
          <p:nvPr>
            <p:ph idx="1"/>
          </p:nvPr>
        </p:nvSpPr>
        <p:spPr/>
        <p:txBody>
          <a:bodyPr/>
          <a:lstStyle/>
          <a:p>
            <a:r>
              <a:rPr lang="en-US" dirty="0"/>
              <a:t>Sleep Disorders (Cont.’)</a:t>
            </a:r>
          </a:p>
          <a:p>
            <a:r>
              <a:rPr lang="en-US" b="1" dirty="0"/>
              <a:t>Non–rapid eye movement (NREM) sleep arousal disorders</a:t>
            </a:r>
          </a:p>
          <a:p>
            <a:r>
              <a:rPr lang="en-US" dirty="0"/>
              <a:t>• Nightmare disorder</a:t>
            </a:r>
          </a:p>
          <a:p>
            <a:r>
              <a:rPr lang="en-US" dirty="0"/>
              <a:t>• Rapid eye movement (REM) sleep behavior disorder</a:t>
            </a:r>
          </a:p>
          <a:p>
            <a:r>
              <a:rPr lang="en-US" dirty="0"/>
              <a:t>• Restless legs syndrome and substance-/medication-induced sleep disorder</a:t>
            </a:r>
          </a:p>
          <a:p>
            <a:endParaRPr lang="en-US" dirty="0"/>
          </a:p>
        </p:txBody>
      </p:sp>
      <p:sp>
        <p:nvSpPr>
          <p:cNvPr id="3" name="Title 2">
            <a:extLst>
              <a:ext uri="{FF2B5EF4-FFF2-40B4-BE49-F238E27FC236}">
                <a16:creationId xmlns:a16="http://schemas.microsoft.com/office/drawing/2014/main" id="{B6B7282D-F9DA-41F0-86EA-B64E3DE7F10C}"/>
              </a:ext>
            </a:extLst>
          </p:cNvPr>
          <p:cNvSpPr>
            <a:spLocks noGrp="1"/>
          </p:cNvSpPr>
          <p:nvPr>
            <p:ph type="title"/>
          </p:nvPr>
        </p:nvSpPr>
        <p:spPr/>
        <p:txBody>
          <a:bodyPr>
            <a:normAutofit fontScale="90000"/>
          </a:bodyPr>
          <a:lstStyle/>
          <a:p>
            <a:r>
              <a:rPr lang="en-US" sz="44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E227BCD0-6715-4E77-B799-6D085B516496}"/>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228702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2EEFA1-1DA4-4463-93E9-68E86AC67A44}"/>
              </a:ext>
            </a:extLst>
          </p:cNvPr>
          <p:cNvSpPr>
            <a:spLocks noGrp="1"/>
          </p:cNvSpPr>
          <p:nvPr>
            <p:ph idx="1"/>
          </p:nvPr>
        </p:nvSpPr>
        <p:spPr/>
        <p:txBody>
          <a:bodyPr>
            <a:normAutofit fontScale="92500" lnSpcReduction="20000"/>
          </a:bodyPr>
          <a:lstStyle/>
          <a:p>
            <a:r>
              <a:rPr lang="en-US" dirty="0"/>
              <a:t>Growing evidence has shown that </a:t>
            </a:r>
            <a:r>
              <a:rPr lang="en-US" b="1" dirty="0"/>
              <a:t>sleep disorders coexist with other medical and psychiatric disorders</a:t>
            </a:r>
            <a:r>
              <a:rPr lang="en-US" dirty="0"/>
              <a:t> and may not be mutually exacerbating. DSM-5 underscores the need for independent clinical attention of a sleep disorder regardless of mental or other medical problems that may be present.</a:t>
            </a:r>
          </a:p>
          <a:p>
            <a:r>
              <a:rPr lang="en-US" dirty="0"/>
              <a:t> DSM-5 also recognizes that coexisting medical conditions, mental disorders, and sleep disorders are interactive and bidirectional. </a:t>
            </a:r>
          </a:p>
          <a:p>
            <a:r>
              <a:rPr lang="en-US" dirty="0"/>
              <a:t>Two previous diagnoses have been eliminated: sleep disorder related to another mental disorder and sleep disorder related to another medical condition.</a:t>
            </a:r>
          </a:p>
        </p:txBody>
      </p:sp>
      <p:sp>
        <p:nvSpPr>
          <p:cNvPr id="3" name="Title 2">
            <a:extLst>
              <a:ext uri="{FF2B5EF4-FFF2-40B4-BE49-F238E27FC236}">
                <a16:creationId xmlns:a16="http://schemas.microsoft.com/office/drawing/2014/main" id="{9170B624-F908-4019-BA0C-066075DE5DA2}"/>
              </a:ext>
            </a:extLst>
          </p:cNvPr>
          <p:cNvSpPr>
            <a:spLocks noGrp="1"/>
          </p:cNvSpPr>
          <p:nvPr>
            <p:ph type="title"/>
          </p:nvPr>
        </p:nvSpPr>
        <p:spPr/>
        <p:txBody>
          <a:bodyPr>
            <a:normAutofit fontScale="90000"/>
          </a:bodyPr>
          <a:lstStyle/>
          <a:p>
            <a:r>
              <a:rPr lang="en-US" sz="44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4EB501DD-967C-44F2-85EB-53B100F6CA03}"/>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4017546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CF2F3B-6F7D-44FF-88EF-61FD2AEE4ED3}"/>
              </a:ext>
            </a:extLst>
          </p:cNvPr>
          <p:cNvSpPr>
            <a:spLocks noGrp="1"/>
          </p:cNvSpPr>
          <p:nvPr>
            <p:ph idx="1"/>
          </p:nvPr>
        </p:nvSpPr>
        <p:spPr/>
        <p:txBody>
          <a:bodyPr>
            <a:normAutofit fontScale="92500" lnSpcReduction="10000"/>
          </a:bodyPr>
          <a:lstStyle/>
          <a:p>
            <a:r>
              <a:rPr lang="en-US" dirty="0"/>
              <a:t>The most significant change in sleep-wake diagnostic criteria is in the insomnia classification criteria. </a:t>
            </a:r>
          </a:p>
          <a:p>
            <a:pPr lvl="1"/>
            <a:r>
              <a:rPr lang="en-US" dirty="0"/>
              <a:t>A predominant complaint of dissatisfaction with sleep quantity or quality despite adequate opportunity for sleep. </a:t>
            </a:r>
          </a:p>
          <a:p>
            <a:pPr lvl="1"/>
            <a:r>
              <a:rPr lang="en-US" dirty="0"/>
              <a:t>Daytime distress or impairment in work, family, academic, and other vital areas of functioning account for another key component. </a:t>
            </a:r>
          </a:p>
          <a:p>
            <a:pPr lvl="1"/>
            <a:r>
              <a:rPr lang="en-US" dirty="0"/>
              <a:t>Other symptoms that commonly accompany insomnia include mood disturbance and irritability, anergia, and, especially in children, behavior problems such as hyperactivity, impulsivity, or aggression. </a:t>
            </a:r>
          </a:p>
        </p:txBody>
      </p:sp>
      <p:sp>
        <p:nvSpPr>
          <p:cNvPr id="3" name="Title 2">
            <a:extLst>
              <a:ext uri="{FF2B5EF4-FFF2-40B4-BE49-F238E27FC236}">
                <a16:creationId xmlns:a16="http://schemas.microsoft.com/office/drawing/2014/main" id="{A666414D-30EF-47A3-84D6-912E8B5078C7}"/>
              </a:ext>
            </a:extLst>
          </p:cNvPr>
          <p:cNvSpPr>
            <a:spLocks noGrp="1"/>
          </p:cNvSpPr>
          <p:nvPr>
            <p:ph type="title"/>
          </p:nvPr>
        </p:nvSpPr>
        <p:spPr/>
        <p:txBody>
          <a:bodyPr>
            <a:normAutofit fontScale="90000"/>
          </a:bodyPr>
          <a:lstStyle/>
          <a:p>
            <a:r>
              <a:rPr lang="en-US" sz="44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77906B62-4B73-4A03-92A0-CBC84519F531}"/>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22799329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5EE4F3-5A06-44B0-AC9C-74719D9C35D7}"/>
              </a:ext>
            </a:extLst>
          </p:cNvPr>
          <p:cNvSpPr>
            <a:spLocks noGrp="1"/>
          </p:cNvSpPr>
          <p:nvPr>
            <p:ph idx="1"/>
          </p:nvPr>
        </p:nvSpPr>
        <p:spPr/>
        <p:txBody>
          <a:bodyPr/>
          <a:lstStyle/>
          <a:p>
            <a:r>
              <a:rPr lang="en-US" dirty="0"/>
              <a:t>The DSM-IV distinction into primary and secondary insomnia is removed in DSM-5. This stresses the comorbid nature of insomnia and calls for treatment of both insomnia and the medical disorder. </a:t>
            </a:r>
          </a:p>
          <a:p>
            <a:r>
              <a:rPr lang="en-US" dirty="0"/>
              <a:t>This change in insomnia diagnostic criteria in ICSD-3 and DSM-5 implies a paradigm shift.</a:t>
            </a:r>
          </a:p>
        </p:txBody>
      </p:sp>
      <p:sp>
        <p:nvSpPr>
          <p:cNvPr id="3" name="Title 2">
            <a:extLst>
              <a:ext uri="{FF2B5EF4-FFF2-40B4-BE49-F238E27FC236}">
                <a16:creationId xmlns:a16="http://schemas.microsoft.com/office/drawing/2014/main" id="{1F053C14-8DA9-4078-819C-15F61247EFAB}"/>
              </a:ext>
            </a:extLst>
          </p:cNvPr>
          <p:cNvSpPr>
            <a:spLocks noGrp="1"/>
          </p:cNvSpPr>
          <p:nvPr>
            <p:ph type="title"/>
          </p:nvPr>
        </p:nvSpPr>
        <p:spPr/>
        <p:txBody>
          <a:bodyPr>
            <a:normAutofit fontScale="90000"/>
          </a:bodyPr>
          <a:lstStyle/>
          <a:p>
            <a:r>
              <a:rPr lang="en-US" sz="4400" dirty="0">
                <a:solidFill>
                  <a:schemeClr val="tx1"/>
                </a:solidFill>
                <a:effectLst/>
              </a:rPr>
              <a:t>DSM-5 Diagnoses of Sleep Disorders (Cont.’)</a:t>
            </a:r>
            <a:endParaRPr lang="en-US" dirty="0">
              <a:solidFill>
                <a:schemeClr val="tx1"/>
              </a:solidFill>
            </a:endParaRPr>
          </a:p>
        </p:txBody>
      </p:sp>
      <p:sp>
        <p:nvSpPr>
          <p:cNvPr id="4" name="Footer Placeholder 3">
            <a:extLst>
              <a:ext uri="{FF2B5EF4-FFF2-40B4-BE49-F238E27FC236}">
                <a16:creationId xmlns:a16="http://schemas.microsoft.com/office/drawing/2014/main" id="{6AFB5FF4-2B0C-487A-87A9-DDC2764487C8}"/>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0260957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B581F1-3D16-40BC-B1FC-1AC1BAF11151}"/>
              </a:ext>
            </a:extLst>
          </p:cNvPr>
          <p:cNvSpPr>
            <a:spLocks noGrp="1"/>
          </p:cNvSpPr>
          <p:nvPr>
            <p:ph idx="1"/>
          </p:nvPr>
        </p:nvSpPr>
        <p:spPr/>
        <p:txBody>
          <a:bodyPr>
            <a:normAutofit fontScale="92500" lnSpcReduction="10000"/>
          </a:bodyPr>
          <a:lstStyle/>
          <a:p>
            <a:r>
              <a:rPr lang="en-US" dirty="0"/>
              <a:t>ICSD-3 and DSM-5 both distinguish between short-term and chronic insomnia, with the latter continuing for three months or longer. About 10 percent of the population reports chronic insomnia. </a:t>
            </a:r>
          </a:p>
          <a:p>
            <a:r>
              <a:rPr lang="en-US" dirty="0"/>
              <a:t>ICSD-3 represents consensus opinion from more than 100 sleep specialists worldwide. The 383-page manual covers more than 60 discrete disorders, Sateia said, many pertinent to psychiatry. It also addresses psychiatric medications that may worsen or trigger sleep disorders. </a:t>
            </a:r>
          </a:p>
        </p:txBody>
      </p:sp>
      <p:sp>
        <p:nvSpPr>
          <p:cNvPr id="3" name="Title 2">
            <a:extLst>
              <a:ext uri="{FF2B5EF4-FFF2-40B4-BE49-F238E27FC236}">
                <a16:creationId xmlns:a16="http://schemas.microsoft.com/office/drawing/2014/main" id="{294E69C4-7166-422C-9285-BF75D723AC2E}"/>
              </a:ext>
            </a:extLst>
          </p:cNvPr>
          <p:cNvSpPr>
            <a:spLocks noGrp="1"/>
          </p:cNvSpPr>
          <p:nvPr>
            <p:ph type="title"/>
          </p:nvPr>
        </p:nvSpPr>
        <p:spPr/>
        <p:txBody>
          <a:bodyPr>
            <a:normAutofit fontScale="90000"/>
          </a:bodyPr>
          <a:lstStyle/>
          <a:p>
            <a:r>
              <a:rPr lang="en-US" sz="4400" dirty="0">
                <a:effectLst/>
              </a:rPr>
              <a:t>DSM-5 Diagnoses of Sleep Disorders (Cont.’)</a:t>
            </a:r>
            <a:endParaRPr lang="en-US" dirty="0"/>
          </a:p>
        </p:txBody>
      </p:sp>
      <p:sp>
        <p:nvSpPr>
          <p:cNvPr id="4" name="Footer Placeholder 3">
            <a:extLst>
              <a:ext uri="{FF2B5EF4-FFF2-40B4-BE49-F238E27FC236}">
                <a16:creationId xmlns:a16="http://schemas.microsoft.com/office/drawing/2014/main" id="{D123B247-3034-4569-827A-37229DB466F9}"/>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8697523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br>
              <a:rPr lang="en-US" dirty="0">
                <a:effectLst/>
              </a:rPr>
            </a:br>
            <a:br>
              <a:rPr lang="en-US" dirty="0">
                <a:effectLst/>
              </a:rPr>
            </a:br>
            <a:br>
              <a:rPr lang="en-US" dirty="0">
                <a:effectLst/>
              </a:rPr>
            </a:br>
            <a:br>
              <a:rPr lang="en-US" dirty="0">
                <a:effectLst/>
              </a:rPr>
            </a:br>
            <a:br>
              <a:rPr lang="en-US" dirty="0">
                <a:effectLst/>
              </a:rPr>
            </a:br>
            <a:r>
              <a:rPr lang="en-US" sz="4400" dirty="0">
                <a:solidFill>
                  <a:schemeClr val="tx1"/>
                </a:solidFill>
              </a:rPr>
              <a:t>Nursing Diagnoses</a:t>
            </a:r>
            <a:br>
              <a:rPr lang="en-US" sz="4400" dirty="0"/>
            </a:br>
            <a:endParaRPr lang="en-US" sz="4400" b="1" dirty="0"/>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AEBBB41B-368C-42E6-93B2-68DA0ABAB2A2}"/>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2978878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5EE4F3-5A06-44B0-AC9C-74719D9C35D7}"/>
              </a:ext>
            </a:extLst>
          </p:cNvPr>
          <p:cNvSpPr>
            <a:spLocks noGrp="1"/>
          </p:cNvSpPr>
          <p:nvPr>
            <p:ph idx="1"/>
          </p:nvPr>
        </p:nvSpPr>
        <p:spPr/>
        <p:txBody>
          <a:bodyPr/>
          <a:lstStyle/>
          <a:p>
            <a:pPr lvl="0"/>
            <a:r>
              <a:rPr lang="en-US" sz="2400" b="1" dirty="0"/>
              <a:t>Sleep Pattern Disturbance</a:t>
            </a:r>
          </a:p>
          <a:p>
            <a:r>
              <a:rPr lang="en-US" sz="2400" b="1" dirty="0"/>
              <a:t>Nursing Interventions</a:t>
            </a:r>
          </a:p>
          <a:p>
            <a:pPr lvl="1"/>
            <a:r>
              <a:rPr lang="en-US" sz="2400" dirty="0"/>
              <a:t>Educate the client and family about the condition and explain the sleep protocol.</a:t>
            </a:r>
          </a:p>
          <a:p>
            <a:pPr lvl="1"/>
            <a:r>
              <a:rPr lang="en-US" sz="2400" dirty="0"/>
              <a:t>Monitor sleep pattern.</a:t>
            </a:r>
          </a:p>
          <a:p>
            <a:pPr lvl="1"/>
            <a:r>
              <a:rPr lang="en-US" sz="2400" dirty="0"/>
              <a:t>Encourage complementary modalities (e.g., relaxation, imagery etc.). </a:t>
            </a:r>
          </a:p>
          <a:p>
            <a:endParaRPr lang="en-US" dirty="0"/>
          </a:p>
        </p:txBody>
      </p:sp>
      <p:sp>
        <p:nvSpPr>
          <p:cNvPr id="3" name="Title 2">
            <a:extLst>
              <a:ext uri="{FF2B5EF4-FFF2-40B4-BE49-F238E27FC236}">
                <a16:creationId xmlns:a16="http://schemas.microsoft.com/office/drawing/2014/main" id="{1F053C14-8DA9-4078-819C-15F61247EFAB}"/>
              </a:ext>
            </a:extLst>
          </p:cNvPr>
          <p:cNvSpPr>
            <a:spLocks noGrp="1"/>
          </p:cNvSpPr>
          <p:nvPr>
            <p:ph type="title"/>
          </p:nvPr>
        </p:nvSpPr>
        <p:spPr>
          <a:xfrm>
            <a:off x="457200" y="246503"/>
            <a:ext cx="8229600" cy="1143000"/>
          </a:xfrm>
        </p:spPr>
        <p:txBody>
          <a:bodyPr>
            <a:normAutofit fontScale="90000"/>
          </a:bodyPr>
          <a:lstStyle/>
          <a:p>
            <a:r>
              <a:rPr lang="en-US" dirty="0">
                <a:solidFill>
                  <a:schemeClr val="tx1"/>
                </a:solidFill>
              </a:rPr>
              <a:t>Nursing Diagnoses</a:t>
            </a:r>
            <a:br>
              <a:rPr lang="en-US" dirty="0">
                <a:solidFill>
                  <a:schemeClr val="tx1"/>
                </a:solidFill>
              </a:rPr>
            </a:br>
            <a:endParaRPr lang="en-US" dirty="0">
              <a:solidFill>
                <a:schemeClr val="tx1"/>
              </a:solidFill>
            </a:endParaRPr>
          </a:p>
        </p:txBody>
      </p:sp>
      <p:sp>
        <p:nvSpPr>
          <p:cNvPr id="4" name="Footer Placeholder 3">
            <a:extLst>
              <a:ext uri="{FF2B5EF4-FFF2-40B4-BE49-F238E27FC236}">
                <a16:creationId xmlns:a16="http://schemas.microsoft.com/office/drawing/2014/main" id="{BA750C03-8A4A-4F55-9A6E-C24461EA0FEE}"/>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41005779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br>
              <a:rPr lang="en-US" dirty="0">
                <a:effectLst/>
              </a:rPr>
            </a:br>
            <a:br>
              <a:rPr lang="en-US" dirty="0">
                <a:effectLst/>
              </a:rPr>
            </a:br>
            <a:br>
              <a:rPr lang="en-US" dirty="0">
                <a:effectLst/>
              </a:rPr>
            </a:br>
            <a:br>
              <a:rPr lang="en-US" dirty="0">
                <a:effectLst/>
              </a:rPr>
            </a:br>
            <a:br>
              <a:rPr lang="en-US" dirty="0">
                <a:effectLst/>
              </a:rPr>
            </a:br>
            <a:r>
              <a:rPr lang="en-US" sz="4400" b="0" dirty="0">
                <a:solidFill>
                  <a:schemeClr val="tx1"/>
                </a:solidFill>
              </a:rPr>
              <a:t>Symptoms of Sleep Disorders</a:t>
            </a:r>
            <a:br>
              <a:rPr lang="en-US" sz="4400" dirty="0"/>
            </a:br>
            <a:endParaRPr lang="en-US" sz="4400" b="1" dirty="0"/>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7EC4C97B-0CCF-433E-AD71-A0418835C75E}"/>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4993473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7F740C-9363-41A6-9CAD-FF68D529486F}"/>
              </a:ext>
            </a:extLst>
          </p:cNvPr>
          <p:cNvSpPr>
            <a:spLocks noGrp="1"/>
          </p:cNvSpPr>
          <p:nvPr>
            <p:ph idx="1"/>
          </p:nvPr>
        </p:nvSpPr>
        <p:spPr/>
        <p:txBody>
          <a:bodyPr>
            <a:normAutofit fontScale="85000" lnSpcReduction="20000"/>
          </a:bodyPr>
          <a:lstStyle/>
          <a:p>
            <a:r>
              <a:rPr lang="en-US" dirty="0"/>
              <a:t>In people with major </a:t>
            </a:r>
            <a:r>
              <a:rPr lang="en-US" b="1" dirty="0"/>
              <a:t>depressive disorder, hypersomnolence often persists even after the depression lifts</a:t>
            </a:r>
            <a:r>
              <a:rPr lang="en-US" dirty="0"/>
              <a:t>, increasing the risk of recurrence.</a:t>
            </a:r>
          </a:p>
          <a:p>
            <a:r>
              <a:rPr lang="en-US" b="1" dirty="0"/>
              <a:t>Circadian</a:t>
            </a:r>
            <a:r>
              <a:rPr lang="en-US" dirty="0"/>
              <a:t>-rhythm sleep disorders also have implications for psychiatry.</a:t>
            </a:r>
          </a:p>
          <a:p>
            <a:r>
              <a:rPr lang="en-US" dirty="0"/>
              <a:t> People with </a:t>
            </a:r>
            <a:r>
              <a:rPr lang="en-US" b="1" dirty="0"/>
              <a:t>delayed sleep-wake phase disorder</a:t>
            </a:r>
            <a:r>
              <a:rPr lang="en-US" dirty="0"/>
              <a:t> (DSWPD), for example, complain of difficulty falling asleep and getting up at times that make it difficult to obtain enough sleep to perform well at school or work. </a:t>
            </a:r>
          </a:p>
          <a:p>
            <a:r>
              <a:rPr lang="en-US" dirty="0"/>
              <a:t>Some use alcohol, sedatives, hypnotics, or stimulants to combat insomnia or excessive sleepiness. </a:t>
            </a:r>
          </a:p>
          <a:p>
            <a:r>
              <a:rPr lang="en-US" dirty="0"/>
              <a:t>In adolescents, school avoidance, social maladjustment, and family dysfunction may be contributing factors. </a:t>
            </a:r>
          </a:p>
          <a:p>
            <a:pPr marL="109728" indent="0">
              <a:buNone/>
            </a:pPr>
            <a:endParaRPr lang="en-US" dirty="0"/>
          </a:p>
        </p:txBody>
      </p:sp>
      <p:sp>
        <p:nvSpPr>
          <p:cNvPr id="3" name="Title 2">
            <a:extLst>
              <a:ext uri="{FF2B5EF4-FFF2-40B4-BE49-F238E27FC236}">
                <a16:creationId xmlns:a16="http://schemas.microsoft.com/office/drawing/2014/main" id="{1A016BE9-3B9F-4056-9776-E239232F315C}"/>
              </a:ext>
            </a:extLst>
          </p:cNvPr>
          <p:cNvSpPr>
            <a:spLocks noGrp="1"/>
          </p:cNvSpPr>
          <p:nvPr>
            <p:ph type="title"/>
          </p:nvPr>
        </p:nvSpPr>
        <p:spPr/>
        <p:txBody>
          <a:bodyPr/>
          <a:lstStyle/>
          <a:p>
            <a:r>
              <a:rPr lang="en-US" dirty="0">
                <a:solidFill>
                  <a:schemeClr val="tx1"/>
                </a:solidFill>
              </a:rPr>
              <a:t>Symptoms of Sleep Disorders </a:t>
            </a:r>
          </a:p>
        </p:txBody>
      </p:sp>
      <p:sp>
        <p:nvSpPr>
          <p:cNvPr id="4" name="Footer Placeholder 3">
            <a:extLst>
              <a:ext uri="{FF2B5EF4-FFF2-40B4-BE49-F238E27FC236}">
                <a16:creationId xmlns:a16="http://schemas.microsoft.com/office/drawing/2014/main" id="{48AC904D-CC38-4F36-9335-3B75484C30C9}"/>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295210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3A3462-22E1-4017-82CA-4380004A0F30}"/>
              </a:ext>
            </a:extLst>
          </p:cNvPr>
          <p:cNvSpPr>
            <a:spLocks noGrp="1"/>
          </p:cNvSpPr>
          <p:nvPr>
            <p:ph idx="1"/>
          </p:nvPr>
        </p:nvSpPr>
        <p:spPr/>
        <p:txBody>
          <a:bodyPr>
            <a:normAutofit fontScale="77500" lnSpcReduction="20000"/>
          </a:bodyPr>
          <a:lstStyle/>
          <a:p>
            <a:r>
              <a:rPr lang="en-US" dirty="0"/>
              <a:t>Even in healthy adolescents, early school start times fly in the face of normal chronobiological development.</a:t>
            </a:r>
          </a:p>
          <a:p>
            <a:r>
              <a:rPr lang="en-US" dirty="0"/>
              <a:t>In those struggling with psychiatric disorders, DSWPD intensifies stress. </a:t>
            </a:r>
          </a:p>
          <a:p>
            <a:r>
              <a:rPr lang="en-US" dirty="0"/>
              <a:t>Trivialized cause of irritability, difficulty concentrating, reduced vigilance, distractibility, decreased motivation, lack of energy, and disturbed mood has its own category in </a:t>
            </a:r>
            <a:r>
              <a:rPr lang="en-US" i="1" dirty="0"/>
              <a:t>ICSD-3</a:t>
            </a:r>
            <a:r>
              <a:rPr lang="en-US" dirty="0"/>
              <a:t>: insufficient sleep syndrome. </a:t>
            </a:r>
          </a:p>
          <a:p>
            <a:r>
              <a:rPr lang="en-US" dirty="0"/>
              <a:t>People with this syndrome, common in 24-hour society, intentionally curtail sleep for work, social, family, or other reasons. </a:t>
            </a:r>
          </a:p>
          <a:p>
            <a:r>
              <a:rPr lang="en-US" dirty="0"/>
              <a:t>Some abuse stimulants or other substances to stay awake. According to </a:t>
            </a:r>
            <a:r>
              <a:rPr lang="en-US" i="1" dirty="0"/>
              <a:t>ICSD-3</a:t>
            </a:r>
            <a:r>
              <a:rPr lang="en-US" dirty="0"/>
              <a:t>, a practical, effective remedy does exist: more sleep. ■</a:t>
            </a:r>
          </a:p>
          <a:p>
            <a:endParaRPr lang="en-US" dirty="0"/>
          </a:p>
        </p:txBody>
      </p:sp>
      <p:sp>
        <p:nvSpPr>
          <p:cNvPr id="3" name="Title 2">
            <a:extLst>
              <a:ext uri="{FF2B5EF4-FFF2-40B4-BE49-F238E27FC236}">
                <a16:creationId xmlns:a16="http://schemas.microsoft.com/office/drawing/2014/main" id="{24C1F062-1FAE-4A13-800F-38C74A59F080}"/>
              </a:ext>
            </a:extLst>
          </p:cNvPr>
          <p:cNvSpPr>
            <a:spLocks noGrp="1"/>
          </p:cNvSpPr>
          <p:nvPr>
            <p:ph type="title"/>
          </p:nvPr>
        </p:nvSpPr>
        <p:spPr/>
        <p:txBody>
          <a:bodyPr/>
          <a:lstStyle/>
          <a:p>
            <a:r>
              <a:rPr lang="en-US" dirty="0">
                <a:solidFill>
                  <a:schemeClr val="tx1"/>
                </a:solidFill>
              </a:rPr>
              <a:t>Symptoms of Sleep Disorders </a:t>
            </a:r>
          </a:p>
        </p:txBody>
      </p:sp>
      <p:sp>
        <p:nvSpPr>
          <p:cNvPr id="4" name="Footer Placeholder 3">
            <a:extLst>
              <a:ext uri="{FF2B5EF4-FFF2-40B4-BE49-F238E27FC236}">
                <a16:creationId xmlns:a16="http://schemas.microsoft.com/office/drawing/2014/main" id="{F423BA7B-9F38-41C8-8A69-FE5CA7EAB795}"/>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6968147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br>
              <a:rPr lang="en-US" dirty="0">
                <a:effectLst/>
              </a:rPr>
            </a:br>
            <a:br>
              <a:rPr lang="en-US" dirty="0">
                <a:effectLst/>
              </a:rPr>
            </a:br>
            <a:br>
              <a:rPr lang="en-US" dirty="0">
                <a:effectLst/>
              </a:rPr>
            </a:br>
            <a:br>
              <a:rPr lang="en-US" dirty="0">
                <a:effectLst/>
              </a:rPr>
            </a:br>
            <a:br>
              <a:rPr lang="en-US" dirty="0">
                <a:effectLst/>
              </a:rPr>
            </a:br>
            <a:br>
              <a:rPr lang="en-US" dirty="0">
                <a:effectLst/>
              </a:rPr>
            </a:br>
            <a:br>
              <a:rPr lang="en-US" dirty="0">
                <a:effectLst/>
              </a:rPr>
            </a:br>
            <a:br>
              <a:rPr lang="en-US" dirty="0">
                <a:effectLst/>
              </a:rPr>
            </a:br>
            <a:r>
              <a:rPr lang="en-US" sz="4000" dirty="0">
                <a:solidFill>
                  <a:schemeClr val="tx1"/>
                </a:solidFill>
                <a:effectLst/>
              </a:rPr>
              <a:t>Consequences of Lack of Sleep and Coexisting Conditions</a:t>
            </a:r>
            <a:br>
              <a:rPr lang="en-US" sz="4400" dirty="0"/>
            </a:br>
            <a:endParaRPr lang="en-US" sz="4400" b="1" dirty="0"/>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2EA1ED4B-6845-4F89-B1E2-686A52772739}"/>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1413640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464143-F36D-477B-9AEE-5E74453D8098}"/>
              </a:ext>
            </a:extLst>
          </p:cNvPr>
          <p:cNvSpPr>
            <a:spLocks noGrp="1"/>
          </p:cNvSpPr>
          <p:nvPr>
            <p:ph idx="1"/>
          </p:nvPr>
        </p:nvSpPr>
        <p:spPr/>
        <p:txBody>
          <a:bodyPr>
            <a:normAutofit/>
          </a:bodyPr>
          <a:lstStyle/>
          <a:p>
            <a:r>
              <a:rPr lang="en-US" dirty="0"/>
              <a:t>Sleep helps your brain function properly. Not getting enough sleep or poor quality sleep has many potential consequences. </a:t>
            </a:r>
          </a:p>
          <a:p>
            <a:r>
              <a:rPr lang="en-US" dirty="0"/>
              <a:t>The most obvious concerns are fatigue and decreased energy, irritability and problems focusing. </a:t>
            </a:r>
          </a:p>
          <a:p>
            <a:r>
              <a:rPr lang="en-US" dirty="0"/>
              <a:t>The ability to make decisions and mood can also be affected. </a:t>
            </a:r>
          </a:p>
          <a:p>
            <a:r>
              <a:rPr lang="en-US" dirty="0"/>
              <a:t>Sleep problems often coexist with symptoms of depression or anxiety. </a:t>
            </a:r>
          </a:p>
          <a:p>
            <a:endParaRPr lang="en-US" dirty="0"/>
          </a:p>
        </p:txBody>
      </p:sp>
      <p:sp>
        <p:nvSpPr>
          <p:cNvPr id="3" name="Title 2">
            <a:extLst>
              <a:ext uri="{FF2B5EF4-FFF2-40B4-BE49-F238E27FC236}">
                <a16:creationId xmlns:a16="http://schemas.microsoft.com/office/drawing/2014/main" id="{45336681-E830-43CB-B013-FC786758C7EE}"/>
              </a:ext>
            </a:extLst>
          </p:cNvPr>
          <p:cNvSpPr>
            <a:spLocks noGrp="1"/>
          </p:cNvSpPr>
          <p:nvPr>
            <p:ph type="title"/>
          </p:nvPr>
        </p:nvSpPr>
        <p:spPr/>
        <p:txBody>
          <a:bodyPr>
            <a:normAutofit fontScale="90000"/>
          </a:bodyPr>
          <a:lstStyle/>
          <a:p>
            <a:r>
              <a:rPr lang="en-US" dirty="0">
                <a:solidFill>
                  <a:schemeClr val="tx1"/>
                </a:solidFill>
                <a:effectLst/>
              </a:rPr>
              <a:t>Consequences of Lack of Sleep and Coexisting Conditions</a:t>
            </a:r>
            <a:br>
              <a:rPr lang="en-US" dirty="0">
                <a:effectLst/>
              </a:rPr>
            </a:br>
            <a:endParaRPr lang="en-US" dirty="0"/>
          </a:p>
        </p:txBody>
      </p:sp>
      <p:sp>
        <p:nvSpPr>
          <p:cNvPr id="4" name="Footer Placeholder 3">
            <a:extLst>
              <a:ext uri="{FF2B5EF4-FFF2-40B4-BE49-F238E27FC236}">
                <a16:creationId xmlns:a16="http://schemas.microsoft.com/office/drawing/2014/main" id="{9EFA7E0A-9AC9-4582-96F8-C7A37B4A51D7}"/>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26723700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574343-0D6C-4A79-BA66-B16E84D0E2B9}"/>
              </a:ext>
            </a:extLst>
          </p:cNvPr>
          <p:cNvSpPr>
            <a:spLocks noGrp="1"/>
          </p:cNvSpPr>
          <p:nvPr>
            <p:ph idx="1"/>
          </p:nvPr>
        </p:nvSpPr>
        <p:spPr/>
        <p:txBody>
          <a:bodyPr/>
          <a:lstStyle/>
          <a:p>
            <a:r>
              <a:rPr lang="en-US" b="1" dirty="0"/>
              <a:t>Sleep pr</a:t>
            </a:r>
            <a:r>
              <a:rPr lang="en-US" dirty="0"/>
              <a:t>oblems can </a:t>
            </a:r>
            <a:r>
              <a:rPr lang="en-US" b="1" dirty="0"/>
              <a:t>exacerbate depression </a:t>
            </a:r>
            <a:r>
              <a:rPr lang="en-US" dirty="0"/>
              <a:t>or </a:t>
            </a:r>
            <a:r>
              <a:rPr lang="en-US" b="1" dirty="0"/>
              <a:t>anxiety,</a:t>
            </a:r>
            <a:r>
              <a:rPr lang="en-US" dirty="0"/>
              <a:t> and </a:t>
            </a:r>
            <a:r>
              <a:rPr lang="en-US" b="1" dirty="0"/>
              <a:t>depressio</a:t>
            </a:r>
            <a:r>
              <a:rPr lang="en-US" dirty="0"/>
              <a:t>n or </a:t>
            </a:r>
            <a:r>
              <a:rPr lang="en-US" b="1" dirty="0"/>
              <a:t>anxiety can lead to sleep problems.</a:t>
            </a:r>
          </a:p>
          <a:p>
            <a:r>
              <a:rPr lang="en-US" dirty="0"/>
              <a:t>Lack of sleep and too much sleep are linked to many chronic health problems, such as heart disease and diabetes. </a:t>
            </a:r>
          </a:p>
          <a:p>
            <a:r>
              <a:rPr lang="en-US" b="1" dirty="0"/>
              <a:t>Sleep disturbances </a:t>
            </a:r>
            <a:r>
              <a:rPr lang="en-US" dirty="0"/>
              <a:t>can also be a </a:t>
            </a:r>
            <a:r>
              <a:rPr lang="en-US" b="1" dirty="0"/>
              <a:t>warning sign for medical and neurological problem</a:t>
            </a:r>
            <a:r>
              <a:rPr lang="en-US" dirty="0"/>
              <a:t>s, such as </a:t>
            </a:r>
            <a:r>
              <a:rPr lang="en-US" b="1" dirty="0"/>
              <a:t>congestive heart failure, osteoarthritis and Parkinson’s disease.</a:t>
            </a:r>
          </a:p>
          <a:p>
            <a:endParaRPr lang="en-US" dirty="0"/>
          </a:p>
        </p:txBody>
      </p:sp>
      <p:sp>
        <p:nvSpPr>
          <p:cNvPr id="3" name="Title 2">
            <a:extLst>
              <a:ext uri="{FF2B5EF4-FFF2-40B4-BE49-F238E27FC236}">
                <a16:creationId xmlns:a16="http://schemas.microsoft.com/office/drawing/2014/main" id="{B7ECE691-BE2C-49B8-B31B-941D7189C204}"/>
              </a:ext>
            </a:extLst>
          </p:cNvPr>
          <p:cNvSpPr>
            <a:spLocks noGrp="1"/>
          </p:cNvSpPr>
          <p:nvPr>
            <p:ph type="title"/>
          </p:nvPr>
        </p:nvSpPr>
        <p:spPr/>
        <p:txBody>
          <a:bodyPr>
            <a:normAutofit fontScale="90000"/>
          </a:bodyPr>
          <a:lstStyle/>
          <a:p>
            <a:r>
              <a:rPr lang="en-US" dirty="0">
                <a:effectLst/>
              </a:rPr>
              <a:t>Consequences of Lack of Sleep and Coexisting Conditions (Cont.’)</a:t>
            </a:r>
            <a:endParaRPr lang="en-US" dirty="0"/>
          </a:p>
        </p:txBody>
      </p:sp>
      <p:sp>
        <p:nvSpPr>
          <p:cNvPr id="4" name="Footer Placeholder 3">
            <a:extLst>
              <a:ext uri="{FF2B5EF4-FFF2-40B4-BE49-F238E27FC236}">
                <a16:creationId xmlns:a16="http://schemas.microsoft.com/office/drawing/2014/main" id="{C5ACF2E9-BBE1-439C-AB21-15710018EE1E}"/>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1415060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8EC42B-D50F-4D47-AB93-83D522B69B74}"/>
              </a:ext>
            </a:extLst>
          </p:cNvPr>
          <p:cNvSpPr>
            <a:spLocks noGrp="1"/>
          </p:cNvSpPr>
          <p:nvPr>
            <p:ph idx="1"/>
          </p:nvPr>
        </p:nvSpPr>
        <p:spPr/>
        <p:txBody>
          <a:bodyPr>
            <a:normAutofit fontScale="92500" lnSpcReduction="10000"/>
          </a:bodyPr>
          <a:lstStyle/>
          <a:p>
            <a:r>
              <a:rPr lang="en-US" b="1" dirty="0"/>
              <a:t>Related Conditions</a:t>
            </a:r>
          </a:p>
          <a:p>
            <a:r>
              <a:rPr lang="en-US" dirty="0"/>
              <a:t>Other sleep disorders include:</a:t>
            </a:r>
          </a:p>
          <a:p>
            <a:pPr lvl="1"/>
            <a:r>
              <a:rPr lang="en-US" b="1" dirty="0"/>
              <a:t>Hypersomnolence disorder</a:t>
            </a:r>
            <a:r>
              <a:rPr lang="en-US" dirty="0"/>
              <a:t> involves excessive sleepiness even when getting enough sleep and difficulty waking up (may be confused, not fully awake, for a period of time)</a:t>
            </a:r>
          </a:p>
          <a:p>
            <a:pPr lvl="1"/>
            <a:r>
              <a:rPr lang="en-US" b="1" dirty="0"/>
              <a:t>Narcolepsy</a:t>
            </a:r>
            <a:r>
              <a:rPr lang="en-US" dirty="0"/>
              <a:t> involves excessive daytime sleepiness (“sleep attacks”) combined with sudden muscle weakness several times a week</a:t>
            </a:r>
          </a:p>
          <a:p>
            <a:pPr lvl="1"/>
            <a:r>
              <a:rPr lang="en-US" b="1" dirty="0"/>
              <a:t>Breathing-related sleep disorders</a:t>
            </a:r>
            <a:r>
              <a:rPr lang="en-US" dirty="0"/>
              <a:t> (in addition to sleep apnea) </a:t>
            </a:r>
          </a:p>
          <a:p>
            <a:pPr lvl="1"/>
            <a:r>
              <a:rPr lang="en-US" dirty="0"/>
              <a:t>Central sleep apnea</a:t>
            </a:r>
          </a:p>
          <a:p>
            <a:pPr lvl="1"/>
            <a:r>
              <a:rPr lang="en-US" dirty="0"/>
              <a:t>Sleep related hypoventilation</a:t>
            </a:r>
          </a:p>
          <a:p>
            <a:pPr lvl="1"/>
            <a:r>
              <a:rPr lang="en-US" dirty="0"/>
              <a:t>Circadian rhythm sleep-wake disorders</a:t>
            </a:r>
          </a:p>
          <a:p>
            <a:pPr lvl="1"/>
            <a:endParaRPr lang="en-US" dirty="0"/>
          </a:p>
          <a:p>
            <a:endParaRPr lang="en-US" dirty="0"/>
          </a:p>
        </p:txBody>
      </p:sp>
      <p:sp>
        <p:nvSpPr>
          <p:cNvPr id="3" name="Title 2">
            <a:extLst>
              <a:ext uri="{FF2B5EF4-FFF2-40B4-BE49-F238E27FC236}">
                <a16:creationId xmlns:a16="http://schemas.microsoft.com/office/drawing/2014/main" id="{EC4A47CF-F6A0-4381-A5A0-93971C016701}"/>
              </a:ext>
            </a:extLst>
          </p:cNvPr>
          <p:cNvSpPr>
            <a:spLocks noGrp="1"/>
          </p:cNvSpPr>
          <p:nvPr>
            <p:ph type="title"/>
          </p:nvPr>
        </p:nvSpPr>
        <p:spPr/>
        <p:txBody>
          <a:bodyPr>
            <a:normAutofit fontScale="90000"/>
          </a:bodyPr>
          <a:lstStyle/>
          <a:p>
            <a:r>
              <a:rPr lang="en-US" dirty="0">
                <a:solidFill>
                  <a:schemeClr val="tx1"/>
                </a:solidFill>
                <a:effectLst/>
              </a:rPr>
              <a:t>Consequences of Lack of Sleep and Coexisting Conditions (Cont.’)</a:t>
            </a:r>
            <a:endParaRPr lang="en-US" dirty="0">
              <a:solidFill>
                <a:schemeClr val="tx1"/>
              </a:solidFill>
            </a:endParaRPr>
          </a:p>
        </p:txBody>
      </p:sp>
      <p:sp>
        <p:nvSpPr>
          <p:cNvPr id="4" name="Footer Placeholder 3">
            <a:extLst>
              <a:ext uri="{FF2B5EF4-FFF2-40B4-BE49-F238E27FC236}">
                <a16:creationId xmlns:a16="http://schemas.microsoft.com/office/drawing/2014/main" id="{F8218BD6-4F2B-434B-A76C-1D21508E1486}"/>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4118033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BBB2A9-5FD2-4BA6-ACF4-7CC4EE3C975D}"/>
              </a:ext>
            </a:extLst>
          </p:cNvPr>
          <p:cNvSpPr>
            <a:spLocks noGrp="1"/>
          </p:cNvSpPr>
          <p:nvPr>
            <p:ph idx="1"/>
          </p:nvPr>
        </p:nvSpPr>
        <p:spPr/>
        <p:txBody>
          <a:bodyPr/>
          <a:lstStyle/>
          <a:p>
            <a:r>
              <a:rPr lang="en-US" sz="2400" b="1" dirty="0"/>
              <a:t>Related Conditions</a:t>
            </a:r>
            <a:endParaRPr lang="en-US" altLang="en-US" sz="2400" b="1" dirty="0">
              <a:latin typeface="Arial" panose="020B0604020202020204" pitchFamily="34" charset="0"/>
            </a:endParaRPr>
          </a:p>
          <a:p>
            <a:r>
              <a:rPr lang="en-US" altLang="en-US" sz="2400" b="1" dirty="0">
                <a:latin typeface="Arial" panose="020B0604020202020204" pitchFamily="34" charset="0"/>
              </a:rPr>
              <a:t>Parasomnias</a:t>
            </a:r>
            <a:r>
              <a:rPr lang="en-US" altLang="en-US" sz="2400" dirty="0">
                <a:latin typeface="Arial" panose="020B0604020202020204" pitchFamily="34" charset="0"/>
              </a:rPr>
              <a:t> (abnormal events or experiences during sleep) </a:t>
            </a:r>
          </a:p>
          <a:p>
            <a:pPr marL="0" lvl="0" indent="0" eaLnBrk="0" fontAlgn="base" hangingPunct="0">
              <a:spcBef>
                <a:spcPct val="0"/>
              </a:spcBef>
              <a:spcAft>
                <a:spcPct val="0"/>
              </a:spcAft>
              <a:buClrTx/>
              <a:buSzTx/>
              <a:buFontTx/>
              <a:buChar char="•"/>
            </a:pPr>
            <a:r>
              <a:rPr lang="en-US" altLang="en-US" sz="2400" dirty="0">
                <a:latin typeface="Arial" panose="020B0604020202020204" pitchFamily="34" charset="0"/>
              </a:rPr>
              <a:t>Non-rapid eye movement sleep arousal disorders </a:t>
            </a:r>
          </a:p>
          <a:p>
            <a:pPr marL="0" lvl="0" indent="0" eaLnBrk="0" fontAlgn="base" hangingPunct="0">
              <a:spcBef>
                <a:spcPct val="0"/>
              </a:spcBef>
              <a:spcAft>
                <a:spcPct val="0"/>
              </a:spcAft>
              <a:buClrTx/>
              <a:buSzTx/>
              <a:buFontTx/>
              <a:buChar char="•"/>
            </a:pPr>
            <a:r>
              <a:rPr lang="en-US" altLang="en-US" sz="2400" dirty="0">
                <a:latin typeface="Arial" panose="020B0604020202020204" pitchFamily="34" charset="0"/>
              </a:rPr>
              <a:t>Nightmare disorder </a:t>
            </a:r>
          </a:p>
          <a:p>
            <a:pPr marL="0" lvl="0" indent="0" eaLnBrk="0" fontAlgn="base" hangingPunct="0">
              <a:spcBef>
                <a:spcPct val="0"/>
              </a:spcBef>
              <a:spcAft>
                <a:spcPct val="0"/>
              </a:spcAft>
              <a:buClrTx/>
              <a:buSzTx/>
              <a:buFontTx/>
              <a:buChar char="•"/>
            </a:pPr>
            <a:r>
              <a:rPr lang="en-US" altLang="en-US" sz="2400" dirty="0">
                <a:latin typeface="Arial" panose="020B0604020202020204" pitchFamily="34" charset="0"/>
              </a:rPr>
              <a:t>Rapid eye movement sleep behavior disorder </a:t>
            </a:r>
          </a:p>
          <a:p>
            <a:pPr marL="0" indent="0" eaLnBrk="0" fontAlgn="base" hangingPunct="0">
              <a:spcBef>
                <a:spcPct val="0"/>
              </a:spcBef>
              <a:spcAft>
                <a:spcPct val="0"/>
              </a:spcAft>
              <a:buClrTx/>
              <a:buSzTx/>
              <a:buFontTx/>
              <a:buChar char="•"/>
            </a:pPr>
            <a:r>
              <a:rPr lang="en-US" altLang="en-US" sz="2400" dirty="0">
                <a:latin typeface="Arial" panose="020B0604020202020204" pitchFamily="34" charset="0"/>
              </a:rPr>
              <a:t>Restless legs syndrome – (associated with aches and pains throughout the legs which is relieved by movement of the leg, such as walking or kicking) </a:t>
            </a:r>
          </a:p>
          <a:p>
            <a:pPr marL="0" lvl="0" indent="0" eaLnBrk="0" fontAlgn="base" hangingPunct="0">
              <a:spcBef>
                <a:spcPct val="0"/>
              </a:spcBef>
              <a:spcAft>
                <a:spcPct val="0"/>
              </a:spcAft>
              <a:buClrTx/>
              <a:buSzTx/>
              <a:buFontTx/>
              <a:buChar char="•"/>
            </a:pPr>
            <a:endParaRPr lang="en-US" altLang="en-US" sz="2400" dirty="0">
              <a:latin typeface="Arial" panose="020B0604020202020204" pitchFamily="34" charset="0"/>
            </a:endParaRPr>
          </a:p>
          <a:p>
            <a:pPr marL="0" lvl="0" indent="0" eaLnBrk="0" fontAlgn="base" hangingPunct="0">
              <a:spcBef>
                <a:spcPct val="0"/>
              </a:spcBef>
              <a:spcAft>
                <a:spcPct val="0"/>
              </a:spcAft>
              <a:buClrTx/>
              <a:buSzTx/>
              <a:buFontTx/>
              <a:buChar char="•"/>
            </a:pPr>
            <a:endParaRPr lang="en-US" altLang="en-US" sz="2800" dirty="0">
              <a:latin typeface="Arial" panose="020B0604020202020204" pitchFamily="34" charset="0"/>
            </a:endParaRPr>
          </a:p>
          <a:p>
            <a:endParaRPr lang="en-US" dirty="0"/>
          </a:p>
        </p:txBody>
      </p:sp>
      <p:sp>
        <p:nvSpPr>
          <p:cNvPr id="3" name="Title 2">
            <a:extLst>
              <a:ext uri="{FF2B5EF4-FFF2-40B4-BE49-F238E27FC236}">
                <a16:creationId xmlns:a16="http://schemas.microsoft.com/office/drawing/2014/main" id="{7785EB16-A4D8-4421-89D7-4D8AE2F8E47C}"/>
              </a:ext>
            </a:extLst>
          </p:cNvPr>
          <p:cNvSpPr>
            <a:spLocks noGrp="1"/>
          </p:cNvSpPr>
          <p:nvPr>
            <p:ph type="title"/>
          </p:nvPr>
        </p:nvSpPr>
        <p:spPr/>
        <p:txBody>
          <a:bodyPr>
            <a:normAutofit fontScale="90000"/>
          </a:bodyPr>
          <a:lstStyle/>
          <a:p>
            <a:r>
              <a:rPr lang="en-US" dirty="0">
                <a:solidFill>
                  <a:schemeClr val="tx1"/>
                </a:solidFill>
                <a:effectLst/>
              </a:rPr>
              <a:t>Consequences of Lack of Sleep and Coexisting Conditions (Cont.’)</a:t>
            </a:r>
            <a:endParaRPr lang="en-US" dirty="0">
              <a:solidFill>
                <a:schemeClr val="tx1"/>
              </a:solidFill>
            </a:endParaRPr>
          </a:p>
        </p:txBody>
      </p:sp>
      <p:sp>
        <p:nvSpPr>
          <p:cNvPr id="4" name="Footer Placeholder 3">
            <a:extLst>
              <a:ext uri="{FF2B5EF4-FFF2-40B4-BE49-F238E27FC236}">
                <a16:creationId xmlns:a16="http://schemas.microsoft.com/office/drawing/2014/main" id="{F618EFC3-B1B8-443B-B506-7E4361DC50E8}"/>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85978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br>
              <a:rPr lang="en-US" dirty="0">
                <a:effectLst/>
              </a:rPr>
            </a:br>
            <a:br>
              <a:rPr lang="en-US" dirty="0">
                <a:effectLst/>
              </a:rPr>
            </a:br>
            <a:br>
              <a:rPr lang="en-US" dirty="0">
                <a:effectLst/>
              </a:rPr>
            </a:br>
            <a:br>
              <a:rPr lang="en-US" dirty="0">
                <a:effectLst/>
              </a:rPr>
            </a:br>
            <a:r>
              <a:rPr lang="en-US" sz="4400" dirty="0">
                <a:solidFill>
                  <a:schemeClr val="tx1"/>
                </a:solidFill>
              </a:rPr>
              <a:t>Techniques for Sleep Hygiene</a:t>
            </a:r>
            <a:br>
              <a:rPr lang="en-US" dirty="0"/>
            </a:br>
            <a:br>
              <a:rPr lang="en-US" dirty="0">
                <a:effectLst/>
              </a:rPr>
            </a:br>
            <a:endParaRPr lang="en-US" sz="4400" b="1" dirty="0"/>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F100E9D1-02EC-4BF2-8342-E0B245281C90}"/>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2859310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Content Placeholder 1"/>
          <p:cNvSpPr>
            <a:spLocks noGrp="1"/>
          </p:cNvSpPr>
          <p:nvPr>
            <p:ph idx="1"/>
          </p:nvPr>
        </p:nvSpPr>
        <p:spPr/>
        <p:txBody>
          <a:bodyPr>
            <a:normAutofit fontScale="85000" lnSpcReduction="20000"/>
          </a:bodyPr>
          <a:lstStyle/>
          <a:p>
            <a:pPr marL="109728" indent="0">
              <a:buNone/>
            </a:pPr>
            <a:endParaRPr lang="en-US" dirty="0"/>
          </a:p>
          <a:p>
            <a:pPr lvl="0"/>
            <a:r>
              <a:rPr lang="en-US" sz="2600" dirty="0"/>
              <a:t>Restrict bed and bedroom to sleep and sexual activities.  </a:t>
            </a:r>
          </a:p>
          <a:p>
            <a:pPr lvl="0"/>
            <a:r>
              <a:rPr lang="en-US" sz="2600" dirty="0"/>
              <a:t>Do not read, watch television, or do other activities in bed.  If sleepless do not lie in bed for hours staring at the walls or clocks. </a:t>
            </a:r>
          </a:p>
          <a:p>
            <a:pPr lvl="0"/>
            <a:r>
              <a:rPr lang="en-US" sz="2600" dirty="0"/>
              <a:t> If you do not fall asleep after 15 or minutes, it is best to get up and do something quiet until you become drowsy.</a:t>
            </a:r>
          </a:p>
          <a:p>
            <a:pPr lvl="0"/>
            <a:r>
              <a:rPr lang="en-US" sz="2600" dirty="0"/>
              <a:t>Try to get up at the same time each day, regardless of when you went to bed.  </a:t>
            </a:r>
          </a:p>
          <a:p>
            <a:pPr lvl="1"/>
            <a:r>
              <a:rPr lang="en-US" sz="2600" dirty="0"/>
              <a:t>This will help you established a sleep-wake rhythm. </a:t>
            </a:r>
          </a:p>
          <a:p>
            <a:pPr lvl="0"/>
            <a:r>
              <a:rPr lang="en-US" sz="2600" dirty="0"/>
              <a:t>Exercise each day, preferably in late afternoon or early evening.</a:t>
            </a:r>
          </a:p>
          <a:p>
            <a:pPr lvl="0"/>
            <a:r>
              <a:rPr lang="en-US" sz="2600" dirty="0"/>
              <a:t>Make sure the bedroom is quiet, dark, and comfortable temperature (65 oF).</a:t>
            </a:r>
          </a:p>
          <a:p>
            <a:endParaRPr lang="en-US" dirty="0"/>
          </a:p>
        </p:txBody>
      </p:sp>
      <p:sp>
        <p:nvSpPr>
          <p:cNvPr id="55298" name="Title 2"/>
          <p:cNvSpPr>
            <a:spLocks noGrp="1"/>
          </p:cNvSpPr>
          <p:nvPr>
            <p:ph type="title"/>
          </p:nvPr>
        </p:nvSpPr>
        <p:spPr/>
        <p:txBody>
          <a:bodyPr>
            <a:normAutofit fontScale="90000"/>
          </a:bodyPr>
          <a:lstStyle/>
          <a:p>
            <a:r>
              <a:rPr lang="en-US" dirty="0">
                <a:solidFill>
                  <a:schemeClr val="tx1"/>
                </a:solidFill>
              </a:rPr>
              <a:t>Techniques for Sleep Hygiene</a:t>
            </a:r>
            <a:br>
              <a:rPr lang="en-US" dirty="0">
                <a:solidFill>
                  <a:schemeClr val="tx1"/>
                </a:solidFill>
              </a:rPr>
            </a:br>
            <a:endParaRPr lang="en-US" dirty="0">
              <a:solidFill>
                <a:schemeClr val="tx1"/>
              </a:solidFill>
            </a:endParaRPr>
          </a:p>
        </p:txBody>
      </p:sp>
      <p:sp>
        <p:nvSpPr>
          <p:cNvPr id="2" name="Footer Placeholder 1">
            <a:extLst>
              <a:ext uri="{FF2B5EF4-FFF2-40B4-BE49-F238E27FC236}">
                <a16:creationId xmlns:a16="http://schemas.microsoft.com/office/drawing/2014/main" id="{1F99075E-FDDC-4368-B48A-6BE37EBDBDB8}"/>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40A865-2006-4F5A-983E-FC144D50AD67}"/>
              </a:ext>
            </a:extLst>
          </p:cNvPr>
          <p:cNvSpPr>
            <a:spLocks noGrp="1"/>
          </p:cNvSpPr>
          <p:nvPr>
            <p:ph idx="1"/>
          </p:nvPr>
        </p:nvSpPr>
        <p:spPr/>
        <p:txBody>
          <a:bodyPr>
            <a:normAutofit fontScale="85000" lnSpcReduction="20000"/>
          </a:bodyPr>
          <a:lstStyle/>
          <a:p>
            <a:pPr lvl="0"/>
            <a:r>
              <a:rPr lang="en-US" dirty="0"/>
              <a:t>A night snack may help, possible with warm milk; a heavy meal is not recommended. </a:t>
            </a:r>
          </a:p>
          <a:p>
            <a:pPr lvl="1"/>
            <a:r>
              <a:rPr lang="en-US" dirty="0"/>
              <a:t>If (gastroesophinsomnia) has been diagnosed, never eat within 3 hours of sleeping.</a:t>
            </a:r>
          </a:p>
          <a:p>
            <a:pPr lvl="0"/>
            <a:r>
              <a:rPr lang="en-US" dirty="0"/>
              <a:t>Avoid daytime napping.</a:t>
            </a:r>
          </a:p>
          <a:p>
            <a:pPr lvl="0"/>
            <a:r>
              <a:rPr lang="en-US" dirty="0"/>
              <a:t>Caffeine in the evening disturbs sleep, even if you do not think so! Alcohol causes fragmented sleep but also earlier in the day.</a:t>
            </a:r>
          </a:p>
          <a:p>
            <a:pPr lvl="0"/>
            <a:r>
              <a:rPr lang="en-US" dirty="0"/>
              <a:t>If your alarm clock’s tricking keeps you awake at night, get a quieter one.  </a:t>
            </a:r>
          </a:p>
          <a:p>
            <a:pPr lvl="1"/>
            <a:r>
              <a:rPr lang="en-US" dirty="0"/>
              <a:t>Position the clock so that you cannot seek it.</a:t>
            </a:r>
          </a:p>
          <a:p>
            <a:pPr lvl="0"/>
            <a:r>
              <a:rPr lang="en-US" dirty="0"/>
              <a:t>It is sometimes possible to break the cycle of insomnia by deliberately staying awake for the entire night.</a:t>
            </a:r>
          </a:p>
          <a:p>
            <a:endParaRPr lang="en-US" dirty="0"/>
          </a:p>
        </p:txBody>
      </p:sp>
      <p:sp>
        <p:nvSpPr>
          <p:cNvPr id="3" name="Title 2">
            <a:extLst>
              <a:ext uri="{FF2B5EF4-FFF2-40B4-BE49-F238E27FC236}">
                <a16:creationId xmlns:a16="http://schemas.microsoft.com/office/drawing/2014/main" id="{0B47A35E-06F5-4FF2-8EB2-8BE2A9E776AD}"/>
              </a:ext>
            </a:extLst>
          </p:cNvPr>
          <p:cNvSpPr>
            <a:spLocks noGrp="1"/>
          </p:cNvSpPr>
          <p:nvPr>
            <p:ph type="title"/>
          </p:nvPr>
        </p:nvSpPr>
        <p:spPr/>
        <p:txBody>
          <a:bodyPr>
            <a:normAutofit fontScale="90000"/>
          </a:bodyPr>
          <a:lstStyle/>
          <a:p>
            <a:r>
              <a:rPr lang="en-US" dirty="0">
                <a:solidFill>
                  <a:schemeClr val="tx1"/>
                </a:solidFill>
              </a:rPr>
              <a:t>Techniques for Sleep Hygiene (Cont.’)</a:t>
            </a:r>
          </a:p>
        </p:txBody>
      </p:sp>
      <p:sp>
        <p:nvSpPr>
          <p:cNvPr id="4" name="Footer Placeholder 3">
            <a:extLst>
              <a:ext uri="{FF2B5EF4-FFF2-40B4-BE49-F238E27FC236}">
                <a16:creationId xmlns:a16="http://schemas.microsoft.com/office/drawing/2014/main" id="{2D0A35D9-9F46-490C-88C5-C4C9FAFCDE8C}"/>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24645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br>
              <a:rPr lang="en-US" dirty="0">
                <a:effectLst/>
              </a:rPr>
            </a:br>
            <a:br>
              <a:rPr lang="en-US" dirty="0">
                <a:effectLst/>
              </a:rPr>
            </a:br>
            <a:br>
              <a:rPr lang="en-US" dirty="0">
                <a:effectLst/>
              </a:rPr>
            </a:br>
            <a:r>
              <a:rPr lang="en-US" dirty="0"/>
              <a:t>Evaluation/ Outcomes</a:t>
            </a:r>
            <a:br>
              <a:rPr lang="en-US" dirty="0">
                <a:effectLst/>
              </a:rPr>
            </a:br>
            <a:endParaRPr lang="en-US" sz="4400" b="1" dirty="0"/>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222CD195-B5C2-47A7-992C-FE85FF19EA2A}"/>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7516588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lvl="0"/>
            <a:r>
              <a:rPr lang="en-US" dirty="0"/>
              <a:t>Experience restorative sleep and will describe falling asleep and waking up feeling rested.</a:t>
            </a:r>
          </a:p>
          <a:p>
            <a:pPr lvl="0"/>
            <a:r>
              <a:rPr lang="en-US" dirty="0"/>
              <a:t>Understand the disorder or condition (e.g., nightmares) and establish means of coping within the family.</a:t>
            </a:r>
          </a:p>
          <a:p>
            <a:pPr marL="109728" indent="0">
              <a:buNone/>
            </a:pPr>
            <a:r>
              <a:rPr lang="en-US" dirty="0"/>
              <a:t> </a:t>
            </a:r>
          </a:p>
          <a:p>
            <a:endParaRPr lang="en-US" dirty="0"/>
          </a:p>
        </p:txBody>
      </p:sp>
      <p:sp>
        <p:nvSpPr>
          <p:cNvPr id="3" name="Title 2"/>
          <p:cNvSpPr>
            <a:spLocks noGrp="1"/>
          </p:cNvSpPr>
          <p:nvPr>
            <p:ph type="title"/>
          </p:nvPr>
        </p:nvSpPr>
        <p:spPr>
          <a:xfrm>
            <a:off x="533400" y="228600"/>
            <a:ext cx="8229600" cy="1143000"/>
          </a:xfrm>
        </p:spPr>
        <p:txBody>
          <a:bodyPr>
            <a:normAutofit fontScale="90000"/>
          </a:bodyPr>
          <a:lstStyle/>
          <a:p>
            <a:pPr algn="ctr"/>
            <a:br>
              <a:rPr lang="en-US" dirty="0"/>
            </a:br>
            <a:r>
              <a:rPr lang="en-US" dirty="0">
                <a:solidFill>
                  <a:schemeClr val="tx1"/>
                </a:solidFill>
              </a:rPr>
              <a:t>Evaluation/ Outcomes</a:t>
            </a:r>
            <a:br>
              <a:rPr lang="en-US" dirty="0"/>
            </a:br>
            <a:endParaRPr lang="en-US" dirty="0"/>
          </a:p>
        </p:txBody>
      </p:sp>
      <p:sp>
        <p:nvSpPr>
          <p:cNvPr id="4" name="Footer Placeholder 3">
            <a:extLst>
              <a:ext uri="{FF2B5EF4-FFF2-40B4-BE49-F238E27FC236}">
                <a16:creationId xmlns:a16="http://schemas.microsoft.com/office/drawing/2014/main" id="{6C3D6DC6-8A1C-496E-8B8F-50BEB3AEBEA1}"/>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09B682-43BE-476F-B612-6EC3C28F94F5}"/>
              </a:ext>
            </a:extLst>
          </p:cNvPr>
          <p:cNvSpPr>
            <a:spLocks noGrp="1"/>
          </p:cNvSpPr>
          <p:nvPr>
            <p:ph idx="1"/>
          </p:nvPr>
        </p:nvSpPr>
        <p:spPr/>
        <p:txBody>
          <a:bodyPr/>
          <a:lstStyle/>
          <a:p>
            <a:pPr marL="109728" indent="0">
              <a:buNone/>
            </a:pPr>
            <a:r>
              <a:rPr lang="en-US" dirty="0"/>
              <a:t>To achieve optimal treatment outcomes in people with both a psychiatric disorder and insomnia, the clinician needs to target both disorders.</a:t>
            </a:r>
          </a:p>
        </p:txBody>
      </p:sp>
      <p:sp>
        <p:nvSpPr>
          <p:cNvPr id="3" name="Title 2">
            <a:extLst>
              <a:ext uri="{FF2B5EF4-FFF2-40B4-BE49-F238E27FC236}">
                <a16:creationId xmlns:a16="http://schemas.microsoft.com/office/drawing/2014/main" id="{F12E8F60-F6E7-4591-9B60-2AD1794D5313}"/>
              </a:ext>
            </a:extLst>
          </p:cNvPr>
          <p:cNvSpPr>
            <a:spLocks noGrp="1"/>
          </p:cNvSpPr>
          <p:nvPr>
            <p:ph type="title"/>
          </p:nvPr>
        </p:nvSpPr>
        <p:spPr/>
        <p:txBody>
          <a:bodyPr/>
          <a:lstStyle/>
          <a:p>
            <a:r>
              <a:rPr lang="en-US" dirty="0">
                <a:solidFill>
                  <a:schemeClr val="tx1"/>
                </a:solidFill>
              </a:rPr>
              <a:t>Evaluation/ Outcomes</a:t>
            </a:r>
          </a:p>
        </p:txBody>
      </p:sp>
      <p:sp>
        <p:nvSpPr>
          <p:cNvPr id="4" name="Footer Placeholder 3">
            <a:extLst>
              <a:ext uri="{FF2B5EF4-FFF2-40B4-BE49-F238E27FC236}">
                <a16:creationId xmlns:a16="http://schemas.microsoft.com/office/drawing/2014/main" id="{04C9FBF8-8E01-4F32-B8A4-255E70AB0CFB}"/>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3462984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br>
              <a:rPr lang="en-US" dirty="0">
                <a:effectLst/>
              </a:rPr>
            </a:br>
            <a:br>
              <a:rPr lang="en-US" dirty="0">
                <a:effectLst/>
              </a:rPr>
            </a:br>
            <a:br>
              <a:rPr lang="en-US" dirty="0">
                <a:effectLst/>
              </a:rPr>
            </a:br>
            <a:r>
              <a:rPr lang="en-US" altLang="en-US" dirty="0"/>
              <a:t>Practice Exam</a:t>
            </a:r>
            <a:br>
              <a:rPr lang="en-US" dirty="0">
                <a:effectLst/>
              </a:rPr>
            </a:br>
            <a:endParaRPr lang="en-US" sz="4400" b="1" dirty="0"/>
          </a:p>
        </p:txBody>
      </p:sp>
      <p:sp>
        <p:nvSpPr>
          <p:cNvPr id="3" name="Subtitle 2"/>
          <p:cNvSpPr>
            <a:spLocks noGrp="1"/>
          </p:cNvSpPr>
          <p:nvPr>
            <p:ph type="subTitle" idx="1"/>
          </p:nvPr>
        </p:nvSpPr>
        <p:spPr/>
        <p:txBody>
          <a:bodyPr/>
          <a:lstStyle/>
          <a:p>
            <a:pPr algn="ctr"/>
            <a:endParaRPr lang="en-US" dirty="0"/>
          </a:p>
        </p:txBody>
      </p:sp>
      <p:pic>
        <p:nvPicPr>
          <p:cNvPr id="1026" name="Picture 2" descr="MCj01162400000[1]">
            <a:extLst>
              <a:ext uri="{FF2B5EF4-FFF2-40B4-BE49-F238E27FC236}">
                <a16:creationId xmlns:a16="http://schemas.microsoft.com/office/drawing/2014/main" id="{16C527D1-2542-4FA3-8D72-03F2A42F7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8478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MCj01366950000[1]">
            <a:extLst>
              <a:ext uri="{FF2B5EF4-FFF2-40B4-BE49-F238E27FC236}">
                <a16:creationId xmlns:a16="http://schemas.microsoft.com/office/drawing/2014/main" id="{3F5CAC87-087D-4CE8-B1AB-1AAE33BC6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6707"/>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MMj02839640000[1]">
            <a:extLst>
              <a:ext uri="{FF2B5EF4-FFF2-40B4-BE49-F238E27FC236}">
                <a16:creationId xmlns:a16="http://schemas.microsoft.com/office/drawing/2014/main" id="{2542435A-A424-4190-BBCB-5751E5A8F23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43499"/>
            <a:ext cx="1000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517C71EC-2368-4DE6-B99A-1251A1E80917}"/>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7619628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1E9D4F-6C71-4181-AEBD-1F47C2CD57AB}"/>
              </a:ext>
            </a:extLst>
          </p:cNvPr>
          <p:cNvSpPr>
            <a:spLocks noGrp="1"/>
          </p:cNvSpPr>
          <p:nvPr>
            <p:ph idx="1"/>
          </p:nvPr>
        </p:nvSpPr>
        <p:spPr/>
        <p:txBody>
          <a:bodyPr>
            <a:normAutofit/>
          </a:bodyPr>
          <a:lstStyle/>
          <a:p>
            <a:r>
              <a:rPr lang="en-US" dirty="0"/>
              <a:t>A nurse is assessing the client sleep pattern.  What response by the client  indicate a problem with sleep?</a:t>
            </a:r>
          </a:p>
          <a:p>
            <a:pPr lvl="0"/>
            <a:r>
              <a:rPr lang="en-US" dirty="0"/>
              <a:t>a. “I go to bed at different time.”</a:t>
            </a:r>
          </a:p>
          <a:p>
            <a:r>
              <a:rPr lang="en-US" dirty="0"/>
              <a:t>b. “ I have difficulties falling asleep at night”</a:t>
            </a:r>
          </a:p>
          <a:p>
            <a:pPr lvl="0"/>
            <a:r>
              <a:rPr lang="en-US" dirty="0"/>
              <a:t>c. “I drank warm milk before retiring”</a:t>
            </a:r>
          </a:p>
          <a:p>
            <a:pPr lvl="0"/>
            <a:r>
              <a:rPr lang="en-US" dirty="0"/>
              <a:t>d. “ I sleep approximately 6 hour during the night.”</a:t>
            </a:r>
          </a:p>
          <a:p>
            <a:pPr marL="109728" indent="0">
              <a:buNone/>
            </a:pPr>
            <a:endParaRPr lang="en-US" dirty="0"/>
          </a:p>
          <a:p>
            <a:endParaRPr lang="en-US" dirty="0"/>
          </a:p>
        </p:txBody>
      </p:sp>
      <p:sp>
        <p:nvSpPr>
          <p:cNvPr id="3" name="Title 2">
            <a:extLst>
              <a:ext uri="{FF2B5EF4-FFF2-40B4-BE49-F238E27FC236}">
                <a16:creationId xmlns:a16="http://schemas.microsoft.com/office/drawing/2014/main" id="{24CB2935-08FC-4481-B470-A536714EB3C3}"/>
              </a:ext>
            </a:extLst>
          </p:cNvPr>
          <p:cNvSpPr>
            <a:spLocks noGrp="1"/>
          </p:cNvSpPr>
          <p:nvPr>
            <p:ph type="title"/>
          </p:nvPr>
        </p:nvSpPr>
        <p:spPr/>
        <p:txBody>
          <a:bodyPr/>
          <a:lstStyle/>
          <a:p>
            <a:r>
              <a:rPr lang="en-US" dirty="0"/>
              <a:t>Question 1 </a:t>
            </a:r>
          </a:p>
        </p:txBody>
      </p:sp>
      <p:sp>
        <p:nvSpPr>
          <p:cNvPr id="4" name="Footer Placeholder 3">
            <a:extLst>
              <a:ext uri="{FF2B5EF4-FFF2-40B4-BE49-F238E27FC236}">
                <a16:creationId xmlns:a16="http://schemas.microsoft.com/office/drawing/2014/main" id="{DE855A18-D24A-47DD-A45F-928C8589112F}"/>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4782292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1E9D4F-6C71-4181-AEBD-1F47C2CD57AB}"/>
              </a:ext>
            </a:extLst>
          </p:cNvPr>
          <p:cNvSpPr>
            <a:spLocks noGrp="1"/>
          </p:cNvSpPr>
          <p:nvPr>
            <p:ph idx="1"/>
          </p:nvPr>
        </p:nvSpPr>
        <p:spPr/>
        <p:txBody>
          <a:bodyPr>
            <a:normAutofit fontScale="92500" lnSpcReduction="20000"/>
          </a:bodyPr>
          <a:lstStyle/>
          <a:p>
            <a:r>
              <a:rPr lang="en-US" dirty="0"/>
              <a:t>A nurse is assessing the client sleep pattern.  What response by the client  indicate a problem with sleep?</a:t>
            </a:r>
          </a:p>
          <a:p>
            <a:pPr lvl="0"/>
            <a:r>
              <a:rPr lang="en-US" dirty="0"/>
              <a:t>a. “I go to bed at different time.”</a:t>
            </a:r>
          </a:p>
          <a:p>
            <a:pPr lvl="0"/>
            <a:r>
              <a:rPr lang="en-US" b="1" dirty="0">
                <a:solidFill>
                  <a:srgbClr val="FF0000"/>
                </a:solidFill>
              </a:rPr>
              <a:t>b. “ I have difficulties falling asleep at night.” It is not enough to ask, “Did you sleep well last night?” A nurse must inquire if the client has/had difficulty falling asleep, experiences early awaking without the ability to return to sleep, and feel well rested in the morning.</a:t>
            </a:r>
            <a:r>
              <a:rPr lang="en-US" dirty="0"/>
              <a:t> </a:t>
            </a:r>
            <a:endParaRPr lang="en-US" b="1" dirty="0">
              <a:solidFill>
                <a:srgbClr val="FF0000"/>
              </a:solidFill>
            </a:endParaRPr>
          </a:p>
          <a:p>
            <a:pPr lvl="0"/>
            <a:r>
              <a:rPr lang="en-US" dirty="0"/>
              <a:t>c. “I drank warm milk before retiring”</a:t>
            </a:r>
          </a:p>
          <a:p>
            <a:pPr lvl="0"/>
            <a:r>
              <a:rPr lang="en-US" dirty="0"/>
              <a:t>d. “ I sleep approximately 6 hour during the night.”</a:t>
            </a:r>
          </a:p>
          <a:p>
            <a:pPr marL="109728" indent="0">
              <a:buNone/>
            </a:pPr>
            <a:endParaRPr lang="en-US" dirty="0"/>
          </a:p>
          <a:p>
            <a:endParaRPr lang="en-US" dirty="0"/>
          </a:p>
        </p:txBody>
      </p:sp>
      <p:sp>
        <p:nvSpPr>
          <p:cNvPr id="3" name="Title 2">
            <a:extLst>
              <a:ext uri="{FF2B5EF4-FFF2-40B4-BE49-F238E27FC236}">
                <a16:creationId xmlns:a16="http://schemas.microsoft.com/office/drawing/2014/main" id="{24CB2935-08FC-4481-B470-A536714EB3C3}"/>
              </a:ext>
            </a:extLst>
          </p:cNvPr>
          <p:cNvSpPr>
            <a:spLocks noGrp="1"/>
          </p:cNvSpPr>
          <p:nvPr>
            <p:ph type="title"/>
          </p:nvPr>
        </p:nvSpPr>
        <p:spPr/>
        <p:txBody>
          <a:bodyPr/>
          <a:lstStyle/>
          <a:p>
            <a:r>
              <a:rPr lang="en-US" dirty="0"/>
              <a:t>Question 1: Answer  </a:t>
            </a:r>
          </a:p>
        </p:txBody>
      </p:sp>
      <p:sp>
        <p:nvSpPr>
          <p:cNvPr id="4" name="Footer Placeholder 3">
            <a:extLst>
              <a:ext uri="{FF2B5EF4-FFF2-40B4-BE49-F238E27FC236}">
                <a16:creationId xmlns:a16="http://schemas.microsoft.com/office/drawing/2014/main" id="{E0A09207-AF1B-4669-A7A0-A793AA6CDCCC}"/>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109083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1D07CD-718A-43A9-A22D-5E1CB4AB0304}"/>
              </a:ext>
            </a:extLst>
          </p:cNvPr>
          <p:cNvSpPr>
            <a:spLocks noGrp="1"/>
          </p:cNvSpPr>
          <p:nvPr>
            <p:ph idx="1"/>
          </p:nvPr>
        </p:nvSpPr>
        <p:spPr/>
        <p:txBody>
          <a:bodyPr>
            <a:normAutofit/>
          </a:bodyPr>
          <a:lstStyle/>
          <a:p>
            <a:pPr marL="109728" indent="0">
              <a:buNone/>
            </a:pPr>
            <a:r>
              <a:rPr lang="en-US" dirty="0"/>
              <a:t> A nurse is planning care for a client with an Client with an alteration in sleep. Which intervention is critical?</a:t>
            </a:r>
          </a:p>
          <a:p>
            <a:pPr lvl="0"/>
            <a:r>
              <a:rPr lang="en-US" dirty="0"/>
              <a:t>a. Encourage watching television in bed.</a:t>
            </a:r>
          </a:p>
          <a:p>
            <a:pPr lvl="0"/>
            <a:r>
              <a:rPr lang="en-US" dirty="0"/>
              <a:t>b. Take a sleeping pill before retiring for the night</a:t>
            </a:r>
          </a:p>
          <a:p>
            <a:pPr lvl="0"/>
            <a:r>
              <a:rPr lang="en-US" dirty="0"/>
              <a:t>c. Encourage going to bed the same time each night.</a:t>
            </a:r>
          </a:p>
          <a:p>
            <a:pPr lvl="0"/>
            <a:r>
              <a:rPr lang="en-US" dirty="0"/>
              <a:t>d. Drink warm milk before retiring.</a:t>
            </a:r>
          </a:p>
          <a:p>
            <a:pPr marL="109728" indent="0">
              <a:buNone/>
            </a:pPr>
            <a:endParaRPr lang="en-US" dirty="0"/>
          </a:p>
          <a:p>
            <a:endParaRPr lang="en-US" dirty="0"/>
          </a:p>
        </p:txBody>
      </p:sp>
      <p:sp>
        <p:nvSpPr>
          <p:cNvPr id="3" name="Title 2">
            <a:extLst>
              <a:ext uri="{FF2B5EF4-FFF2-40B4-BE49-F238E27FC236}">
                <a16:creationId xmlns:a16="http://schemas.microsoft.com/office/drawing/2014/main" id="{4D9EEEFE-C116-4D65-AEEB-8A891750B9D4}"/>
              </a:ext>
            </a:extLst>
          </p:cNvPr>
          <p:cNvSpPr>
            <a:spLocks noGrp="1"/>
          </p:cNvSpPr>
          <p:nvPr>
            <p:ph type="title"/>
          </p:nvPr>
        </p:nvSpPr>
        <p:spPr/>
        <p:txBody>
          <a:bodyPr/>
          <a:lstStyle/>
          <a:p>
            <a:r>
              <a:rPr lang="en-US" dirty="0"/>
              <a:t>Question 2</a:t>
            </a:r>
          </a:p>
        </p:txBody>
      </p:sp>
      <p:sp>
        <p:nvSpPr>
          <p:cNvPr id="4" name="Footer Placeholder 3">
            <a:extLst>
              <a:ext uri="{FF2B5EF4-FFF2-40B4-BE49-F238E27FC236}">
                <a16:creationId xmlns:a16="http://schemas.microsoft.com/office/drawing/2014/main" id="{1AC2F113-72DC-4179-A5BC-297FF3DD33C3}"/>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8566987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1D07CD-718A-43A9-A22D-5E1CB4AB0304}"/>
              </a:ext>
            </a:extLst>
          </p:cNvPr>
          <p:cNvSpPr>
            <a:spLocks noGrp="1"/>
          </p:cNvSpPr>
          <p:nvPr>
            <p:ph idx="1"/>
          </p:nvPr>
        </p:nvSpPr>
        <p:spPr/>
        <p:txBody>
          <a:bodyPr>
            <a:normAutofit fontScale="92500" lnSpcReduction="10000"/>
          </a:bodyPr>
          <a:lstStyle/>
          <a:p>
            <a:pPr marL="109728" indent="0">
              <a:buNone/>
            </a:pPr>
            <a:r>
              <a:rPr lang="en-US" dirty="0"/>
              <a:t> A nurse is planning care for a client with an Client with an alteration in sleep. Which intervention is critical?</a:t>
            </a:r>
          </a:p>
          <a:p>
            <a:pPr lvl="0"/>
            <a:r>
              <a:rPr lang="en-US" dirty="0"/>
              <a:t>a. Encourage watching television in bed.</a:t>
            </a:r>
          </a:p>
          <a:p>
            <a:pPr lvl="0"/>
            <a:r>
              <a:rPr lang="en-US" dirty="0"/>
              <a:t>b. Take a sleeping pill before retiring for the night</a:t>
            </a:r>
          </a:p>
          <a:p>
            <a:pPr lvl="0"/>
            <a:r>
              <a:rPr lang="en-US" b="1" dirty="0">
                <a:solidFill>
                  <a:srgbClr val="FF0000"/>
                </a:solidFill>
              </a:rPr>
              <a:t>c. Encourage going to bed the same time each night.  The nurses need to encourage the client to go to bed the same time each night to develop a set pattern for sleeping.</a:t>
            </a:r>
          </a:p>
          <a:p>
            <a:pPr lvl="0"/>
            <a:r>
              <a:rPr lang="en-US" dirty="0"/>
              <a:t>d. Drink warm milk before retiring.</a:t>
            </a:r>
          </a:p>
          <a:p>
            <a:r>
              <a:rPr lang="en-US" dirty="0"/>
              <a:t> </a:t>
            </a:r>
          </a:p>
          <a:p>
            <a:pPr marL="109728" indent="0">
              <a:buNone/>
            </a:pPr>
            <a:endParaRPr lang="en-US" dirty="0"/>
          </a:p>
          <a:p>
            <a:endParaRPr lang="en-US" dirty="0"/>
          </a:p>
        </p:txBody>
      </p:sp>
      <p:sp>
        <p:nvSpPr>
          <p:cNvPr id="3" name="Title 2">
            <a:extLst>
              <a:ext uri="{FF2B5EF4-FFF2-40B4-BE49-F238E27FC236}">
                <a16:creationId xmlns:a16="http://schemas.microsoft.com/office/drawing/2014/main" id="{4D9EEEFE-C116-4D65-AEEB-8A891750B9D4}"/>
              </a:ext>
            </a:extLst>
          </p:cNvPr>
          <p:cNvSpPr>
            <a:spLocks noGrp="1"/>
          </p:cNvSpPr>
          <p:nvPr>
            <p:ph type="title"/>
          </p:nvPr>
        </p:nvSpPr>
        <p:spPr/>
        <p:txBody>
          <a:bodyPr/>
          <a:lstStyle/>
          <a:p>
            <a:r>
              <a:rPr lang="en-US" dirty="0">
                <a:solidFill>
                  <a:schemeClr val="tx1"/>
                </a:solidFill>
              </a:rPr>
              <a:t>Question 2: Answer </a:t>
            </a:r>
          </a:p>
        </p:txBody>
      </p:sp>
      <p:sp>
        <p:nvSpPr>
          <p:cNvPr id="4" name="Footer Placeholder 3">
            <a:extLst>
              <a:ext uri="{FF2B5EF4-FFF2-40B4-BE49-F238E27FC236}">
                <a16:creationId xmlns:a16="http://schemas.microsoft.com/office/drawing/2014/main" id="{BA17EE51-150D-47DE-AAED-BBDD5A843DBE}"/>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8050092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70A5D-268F-47F2-BD5E-B46D1423E7DE}"/>
              </a:ext>
            </a:extLst>
          </p:cNvPr>
          <p:cNvSpPr>
            <a:spLocks noGrp="1"/>
          </p:cNvSpPr>
          <p:nvPr>
            <p:ph idx="1"/>
          </p:nvPr>
        </p:nvSpPr>
        <p:spPr/>
        <p:txBody>
          <a:bodyPr>
            <a:normAutofit/>
          </a:bodyPr>
          <a:lstStyle/>
          <a:p>
            <a:r>
              <a:rPr lang="en-US" sz="2800" dirty="0"/>
              <a:t>A nurse is planning care for a client with sleep disturbance. What would be an appropriate goal?</a:t>
            </a:r>
            <a:endParaRPr lang="en-US" sz="1800" dirty="0"/>
          </a:p>
          <a:p>
            <a:pPr lvl="1">
              <a:buFont typeface="Wingdings" panose="05000000000000000000" pitchFamily="2" charset="2"/>
              <a:buChar char="Ø"/>
            </a:pPr>
            <a:r>
              <a:rPr lang="en-US" sz="2400" dirty="0"/>
              <a:t>a. Client will report 6-8 hours of uninterrupted sleep at night.</a:t>
            </a:r>
            <a:endParaRPr lang="en-US" sz="1600" dirty="0"/>
          </a:p>
          <a:p>
            <a:pPr lvl="1">
              <a:buFont typeface="Wingdings" panose="05000000000000000000" pitchFamily="2" charset="2"/>
              <a:buChar char="Ø"/>
            </a:pPr>
            <a:r>
              <a:rPr lang="en-US" sz="2400" dirty="0"/>
              <a:t>b. Client will report no problems with sleep at night.</a:t>
            </a:r>
            <a:endParaRPr lang="en-US" sz="1600" dirty="0"/>
          </a:p>
          <a:p>
            <a:pPr lvl="1">
              <a:buFont typeface="Wingdings" panose="05000000000000000000" pitchFamily="2" charset="2"/>
              <a:buChar char="Ø"/>
            </a:pPr>
            <a:r>
              <a:rPr lang="en-US" sz="2400" dirty="0"/>
              <a:t>c. Client will report sleeping well during the night.</a:t>
            </a:r>
            <a:endParaRPr lang="en-US" sz="1600" dirty="0"/>
          </a:p>
          <a:p>
            <a:pPr lvl="1">
              <a:buFont typeface="Wingdings" panose="05000000000000000000" pitchFamily="2" charset="2"/>
              <a:buChar char="Ø"/>
            </a:pPr>
            <a:r>
              <a:rPr lang="en-US" sz="2400" dirty="0"/>
              <a:t>d. Client will report no hallucination during the night.</a:t>
            </a:r>
            <a:endParaRPr lang="en-US" sz="1600" dirty="0"/>
          </a:p>
          <a:p>
            <a:pPr>
              <a:buFont typeface="Wingdings" panose="05000000000000000000" pitchFamily="2" charset="2"/>
              <a:buChar char="Ø"/>
            </a:pPr>
            <a:endParaRPr lang="en-US" sz="1800" dirty="0"/>
          </a:p>
          <a:p>
            <a:pPr marL="109728" indent="0">
              <a:buNone/>
            </a:pPr>
            <a:endParaRPr lang="en-US" sz="1800" dirty="0"/>
          </a:p>
          <a:p>
            <a:endParaRPr lang="en-US" dirty="0"/>
          </a:p>
        </p:txBody>
      </p:sp>
      <p:sp>
        <p:nvSpPr>
          <p:cNvPr id="3" name="Title 2">
            <a:extLst>
              <a:ext uri="{FF2B5EF4-FFF2-40B4-BE49-F238E27FC236}">
                <a16:creationId xmlns:a16="http://schemas.microsoft.com/office/drawing/2014/main" id="{BC71987E-516D-41AD-BE89-503E7407BDC2}"/>
              </a:ext>
            </a:extLst>
          </p:cNvPr>
          <p:cNvSpPr>
            <a:spLocks noGrp="1"/>
          </p:cNvSpPr>
          <p:nvPr>
            <p:ph type="title"/>
          </p:nvPr>
        </p:nvSpPr>
        <p:spPr/>
        <p:txBody>
          <a:bodyPr/>
          <a:lstStyle/>
          <a:p>
            <a:r>
              <a:rPr lang="en-US" dirty="0"/>
              <a:t>Question 3</a:t>
            </a:r>
          </a:p>
        </p:txBody>
      </p:sp>
      <p:sp>
        <p:nvSpPr>
          <p:cNvPr id="4" name="Footer Placeholder 3">
            <a:extLst>
              <a:ext uri="{FF2B5EF4-FFF2-40B4-BE49-F238E27FC236}">
                <a16:creationId xmlns:a16="http://schemas.microsoft.com/office/drawing/2014/main" id="{0291F35A-F3FB-4FCF-BC15-8A01CBF3B959}"/>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9196200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70A5D-268F-47F2-BD5E-B46D1423E7DE}"/>
              </a:ext>
            </a:extLst>
          </p:cNvPr>
          <p:cNvSpPr>
            <a:spLocks noGrp="1"/>
          </p:cNvSpPr>
          <p:nvPr>
            <p:ph idx="1"/>
          </p:nvPr>
        </p:nvSpPr>
        <p:spPr/>
        <p:txBody>
          <a:bodyPr>
            <a:normAutofit lnSpcReduction="10000"/>
          </a:bodyPr>
          <a:lstStyle/>
          <a:p>
            <a:r>
              <a:rPr lang="en-US" sz="2800" dirty="0"/>
              <a:t>A nurse is planning care for a client with sleep disturbance. What would be an appropriate goal?</a:t>
            </a:r>
            <a:endParaRPr lang="en-US" sz="1800" dirty="0"/>
          </a:p>
          <a:p>
            <a:pPr lvl="1">
              <a:buFont typeface="Wingdings" panose="05000000000000000000" pitchFamily="2" charset="2"/>
              <a:buChar char="Ø"/>
            </a:pPr>
            <a:r>
              <a:rPr lang="en-US" sz="2400" b="1" dirty="0">
                <a:solidFill>
                  <a:srgbClr val="FF0000"/>
                </a:solidFill>
              </a:rPr>
              <a:t>a. Client will report 6-8 hours of uninterrupted sleep at night. This outcome will ensure that client is resting well at night.</a:t>
            </a:r>
            <a:endParaRPr lang="en-US" sz="1600" b="1" dirty="0">
              <a:solidFill>
                <a:srgbClr val="FF0000"/>
              </a:solidFill>
            </a:endParaRPr>
          </a:p>
          <a:p>
            <a:pPr lvl="1">
              <a:buFont typeface="Wingdings" panose="05000000000000000000" pitchFamily="2" charset="2"/>
              <a:buChar char="Ø"/>
            </a:pPr>
            <a:r>
              <a:rPr lang="en-US" sz="2400" dirty="0"/>
              <a:t>b. Client will report no problems with sleep at night.</a:t>
            </a:r>
            <a:endParaRPr lang="en-US" sz="1600" dirty="0"/>
          </a:p>
          <a:p>
            <a:pPr lvl="1">
              <a:buFont typeface="Wingdings" panose="05000000000000000000" pitchFamily="2" charset="2"/>
              <a:buChar char="Ø"/>
            </a:pPr>
            <a:r>
              <a:rPr lang="en-US" sz="2400" dirty="0"/>
              <a:t>c. Client will report sleeping well during the night.</a:t>
            </a:r>
            <a:endParaRPr lang="en-US" sz="1600" dirty="0"/>
          </a:p>
          <a:p>
            <a:pPr lvl="1">
              <a:buFont typeface="Wingdings" panose="05000000000000000000" pitchFamily="2" charset="2"/>
              <a:buChar char="Ø"/>
            </a:pPr>
            <a:r>
              <a:rPr lang="en-US" sz="2400" dirty="0"/>
              <a:t>d. Client will report no hallucination during the night.</a:t>
            </a:r>
            <a:endParaRPr lang="en-US" sz="1600" dirty="0"/>
          </a:p>
          <a:p>
            <a:pPr>
              <a:buFont typeface="Wingdings" panose="05000000000000000000" pitchFamily="2" charset="2"/>
              <a:buChar char="Ø"/>
            </a:pPr>
            <a:endParaRPr lang="en-US" sz="1800" dirty="0"/>
          </a:p>
          <a:p>
            <a:pPr marL="109728" indent="0">
              <a:buNone/>
            </a:pPr>
            <a:endParaRPr lang="en-US" sz="1800" dirty="0"/>
          </a:p>
          <a:p>
            <a:endParaRPr lang="en-US" dirty="0"/>
          </a:p>
        </p:txBody>
      </p:sp>
      <p:sp>
        <p:nvSpPr>
          <p:cNvPr id="3" name="Title 2">
            <a:extLst>
              <a:ext uri="{FF2B5EF4-FFF2-40B4-BE49-F238E27FC236}">
                <a16:creationId xmlns:a16="http://schemas.microsoft.com/office/drawing/2014/main" id="{BC71987E-516D-41AD-BE89-503E7407BDC2}"/>
              </a:ext>
            </a:extLst>
          </p:cNvPr>
          <p:cNvSpPr>
            <a:spLocks noGrp="1"/>
          </p:cNvSpPr>
          <p:nvPr>
            <p:ph type="title"/>
          </p:nvPr>
        </p:nvSpPr>
        <p:spPr/>
        <p:txBody>
          <a:bodyPr/>
          <a:lstStyle/>
          <a:p>
            <a:r>
              <a:rPr lang="en-US" dirty="0"/>
              <a:t>Question 3: Answer </a:t>
            </a:r>
          </a:p>
        </p:txBody>
      </p:sp>
      <p:sp>
        <p:nvSpPr>
          <p:cNvPr id="4" name="Footer Placeholder 3">
            <a:extLst>
              <a:ext uri="{FF2B5EF4-FFF2-40B4-BE49-F238E27FC236}">
                <a16:creationId xmlns:a16="http://schemas.microsoft.com/office/drawing/2014/main" id="{13E78F2D-D6E0-4DB2-8D26-73D49A2FE028}"/>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5979863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B41308-0F3F-4953-81FE-D36A3A770530}"/>
              </a:ext>
            </a:extLst>
          </p:cNvPr>
          <p:cNvSpPr>
            <a:spLocks noGrp="1"/>
          </p:cNvSpPr>
          <p:nvPr>
            <p:ph idx="1"/>
          </p:nvPr>
        </p:nvSpPr>
        <p:spPr/>
        <p:txBody>
          <a:bodyPr>
            <a:normAutofit lnSpcReduction="10000"/>
          </a:bodyPr>
          <a:lstStyle/>
          <a:p>
            <a:pPr lvl="0"/>
            <a:r>
              <a:rPr lang="en-US" sz="2800" dirty="0"/>
              <a:t>A nurse is assessing the client sleep pattern. Which response by the client will indicate an improvement in client sleep pattern?</a:t>
            </a:r>
            <a:endParaRPr lang="en-US" sz="1800" dirty="0"/>
          </a:p>
          <a:p>
            <a:pPr lvl="1">
              <a:buFont typeface="Wingdings" panose="05000000000000000000" pitchFamily="2" charset="2"/>
              <a:buChar char="Ø"/>
            </a:pPr>
            <a:r>
              <a:rPr lang="en-US" sz="2400" dirty="0"/>
              <a:t>a. “I slept 6-8 hours during the night for the 3 days.”</a:t>
            </a:r>
            <a:endParaRPr lang="en-US" sz="1600" dirty="0"/>
          </a:p>
          <a:p>
            <a:pPr lvl="1">
              <a:buFont typeface="Wingdings" panose="05000000000000000000" pitchFamily="2" charset="2"/>
              <a:buChar char="Ø"/>
            </a:pPr>
            <a:r>
              <a:rPr lang="en-US" sz="2400" dirty="0"/>
              <a:t>b. “I slept well the last 3 days after requesting my PRN sleeping pill.”</a:t>
            </a:r>
            <a:endParaRPr lang="en-US" sz="1600" dirty="0"/>
          </a:p>
          <a:p>
            <a:pPr lvl="1">
              <a:buFont typeface="Wingdings" panose="05000000000000000000" pitchFamily="2" charset="2"/>
              <a:buChar char="Ø"/>
            </a:pPr>
            <a:r>
              <a:rPr lang="en-US" sz="2400" dirty="0"/>
              <a:t>c. “I had no episodes of hallucinations during the night”</a:t>
            </a:r>
            <a:endParaRPr lang="en-US" sz="1600" dirty="0"/>
          </a:p>
          <a:p>
            <a:pPr lvl="1">
              <a:buFont typeface="Wingdings" panose="05000000000000000000" pitchFamily="2" charset="2"/>
              <a:buChar char="Ø"/>
            </a:pPr>
            <a:r>
              <a:rPr lang="en-US" sz="2400" dirty="0"/>
              <a:t>d. “I did not have any difficulties falling asleep last night.”</a:t>
            </a:r>
            <a:endParaRPr lang="en-US" sz="1600" dirty="0"/>
          </a:p>
          <a:p>
            <a:endParaRPr lang="en-US" sz="1800" dirty="0"/>
          </a:p>
          <a:p>
            <a:endParaRPr lang="en-US" dirty="0"/>
          </a:p>
        </p:txBody>
      </p:sp>
      <p:sp>
        <p:nvSpPr>
          <p:cNvPr id="3" name="Title 2">
            <a:extLst>
              <a:ext uri="{FF2B5EF4-FFF2-40B4-BE49-F238E27FC236}">
                <a16:creationId xmlns:a16="http://schemas.microsoft.com/office/drawing/2014/main" id="{0EDBD4F9-7BAD-4B8B-9604-9226850434CD}"/>
              </a:ext>
            </a:extLst>
          </p:cNvPr>
          <p:cNvSpPr>
            <a:spLocks noGrp="1"/>
          </p:cNvSpPr>
          <p:nvPr>
            <p:ph type="title"/>
          </p:nvPr>
        </p:nvSpPr>
        <p:spPr/>
        <p:txBody>
          <a:bodyPr/>
          <a:lstStyle/>
          <a:p>
            <a:r>
              <a:rPr lang="en-US" dirty="0"/>
              <a:t>Question 4</a:t>
            </a:r>
          </a:p>
        </p:txBody>
      </p:sp>
      <p:sp>
        <p:nvSpPr>
          <p:cNvPr id="4" name="Footer Placeholder 3">
            <a:extLst>
              <a:ext uri="{FF2B5EF4-FFF2-40B4-BE49-F238E27FC236}">
                <a16:creationId xmlns:a16="http://schemas.microsoft.com/office/drawing/2014/main" id="{7D3829F4-9B8D-458A-92EA-3E245F0C7EFC}"/>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6550857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B41308-0F3F-4953-81FE-D36A3A770530}"/>
              </a:ext>
            </a:extLst>
          </p:cNvPr>
          <p:cNvSpPr>
            <a:spLocks noGrp="1"/>
          </p:cNvSpPr>
          <p:nvPr>
            <p:ph idx="1"/>
          </p:nvPr>
        </p:nvSpPr>
        <p:spPr/>
        <p:txBody>
          <a:bodyPr>
            <a:normAutofit fontScale="92500" lnSpcReduction="20000"/>
          </a:bodyPr>
          <a:lstStyle/>
          <a:p>
            <a:pPr lvl="0"/>
            <a:r>
              <a:rPr lang="en-US" sz="2800" dirty="0"/>
              <a:t>A nurse is assessing the client sleep pattern. Which response by the client will indicate an improvement in client sleep pattern?</a:t>
            </a:r>
            <a:endParaRPr lang="en-US" sz="1800" dirty="0"/>
          </a:p>
          <a:p>
            <a:pPr lvl="1">
              <a:buFont typeface="Wingdings" panose="05000000000000000000" pitchFamily="2" charset="2"/>
              <a:buChar char="Ø"/>
            </a:pPr>
            <a:r>
              <a:rPr lang="en-US" sz="2600" b="1" dirty="0">
                <a:solidFill>
                  <a:srgbClr val="FF0000"/>
                </a:solidFill>
              </a:rPr>
              <a:t>a. “I slept 6-8 hours during the night for the 3 days.” This outcome will ensure that client is resting well at night. The there days will indicate consistency in sleep pattern. </a:t>
            </a:r>
          </a:p>
          <a:p>
            <a:pPr lvl="1">
              <a:buFont typeface="Wingdings" panose="05000000000000000000" pitchFamily="2" charset="2"/>
              <a:buChar char="Ø"/>
            </a:pPr>
            <a:r>
              <a:rPr lang="en-US" sz="2600" dirty="0"/>
              <a:t>b. “I slept well the last 3 days after requesting my PRN sleeping pill.”</a:t>
            </a:r>
          </a:p>
          <a:p>
            <a:pPr lvl="1">
              <a:buFont typeface="Wingdings" panose="05000000000000000000" pitchFamily="2" charset="2"/>
              <a:buChar char="Ø"/>
            </a:pPr>
            <a:r>
              <a:rPr lang="en-US" sz="2600" dirty="0"/>
              <a:t>c. “I had no episodes of hallucinations during the night”</a:t>
            </a:r>
          </a:p>
          <a:p>
            <a:pPr lvl="1">
              <a:buFont typeface="Wingdings" panose="05000000000000000000" pitchFamily="2" charset="2"/>
              <a:buChar char="Ø"/>
            </a:pPr>
            <a:r>
              <a:rPr lang="en-US" sz="2600" dirty="0"/>
              <a:t>d. “I did not have any difficulties falling asleep last night.”</a:t>
            </a:r>
          </a:p>
          <a:p>
            <a:endParaRPr lang="en-US" sz="1800" dirty="0"/>
          </a:p>
          <a:p>
            <a:endParaRPr lang="en-US" dirty="0"/>
          </a:p>
        </p:txBody>
      </p:sp>
      <p:sp>
        <p:nvSpPr>
          <p:cNvPr id="3" name="Title 2">
            <a:extLst>
              <a:ext uri="{FF2B5EF4-FFF2-40B4-BE49-F238E27FC236}">
                <a16:creationId xmlns:a16="http://schemas.microsoft.com/office/drawing/2014/main" id="{0EDBD4F9-7BAD-4B8B-9604-9226850434CD}"/>
              </a:ext>
            </a:extLst>
          </p:cNvPr>
          <p:cNvSpPr>
            <a:spLocks noGrp="1"/>
          </p:cNvSpPr>
          <p:nvPr>
            <p:ph type="title"/>
          </p:nvPr>
        </p:nvSpPr>
        <p:spPr/>
        <p:txBody>
          <a:bodyPr/>
          <a:lstStyle/>
          <a:p>
            <a:r>
              <a:rPr lang="en-US" dirty="0"/>
              <a:t>Question 4: Answer </a:t>
            </a:r>
          </a:p>
        </p:txBody>
      </p:sp>
      <p:sp>
        <p:nvSpPr>
          <p:cNvPr id="4" name="Footer Placeholder 3">
            <a:extLst>
              <a:ext uri="{FF2B5EF4-FFF2-40B4-BE49-F238E27FC236}">
                <a16:creationId xmlns:a16="http://schemas.microsoft.com/office/drawing/2014/main" id="{705AA8BB-16A8-43A2-963D-255ED2D0E18F}"/>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6852729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1ADD9B-74F0-4A98-8E65-8F502C1B41B5}"/>
              </a:ext>
            </a:extLst>
          </p:cNvPr>
          <p:cNvSpPr>
            <a:spLocks noGrp="1"/>
          </p:cNvSpPr>
          <p:nvPr>
            <p:ph idx="1"/>
          </p:nvPr>
        </p:nvSpPr>
        <p:spPr/>
        <p:txBody>
          <a:bodyPr/>
          <a:lstStyle/>
          <a:p>
            <a:r>
              <a:rPr lang="en-US" dirty="0"/>
              <a:t>The client complaint of an overwhelming urge to sleep. He state he’s been falling asleep while working at his desk. He reports that these episodes occurs about five times daily. This client is most likely experiencing which sleep disorder?</a:t>
            </a:r>
          </a:p>
          <a:p>
            <a:r>
              <a:rPr lang="en-US" dirty="0"/>
              <a:t>a. Breathing-related sleep disorder</a:t>
            </a:r>
          </a:p>
          <a:p>
            <a:r>
              <a:rPr lang="en-US" dirty="0"/>
              <a:t>b. Narcolepsy.</a:t>
            </a:r>
          </a:p>
          <a:p>
            <a:r>
              <a:rPr lang="en-US" dirty="0"/>
              <a:t>c. Primary hypersomnia.</a:t>
            </a:r>
          </a:p>
          <a:p>
            <a:r>
              <a:rPr lang="en-US" dirty="0"/>
              <a:t>d. Circadian rhythm disorder. </a:t>
            </a:r>
          </a:p>
        </p:txBody>
      </p:sp>
      <p:sp>
        <p:nvSpPr>
          <p:cNvPr id="3" name="Title 2">
            <a:extLst>
              <a:ext uri="{FF2B5EF4-FFF2-40B4-BE49-F238E27FC236}">
                <a16:creationId xmlns:a16="http://schemas.microsoft.com/office/drawing/2014/main" id="{4C579F74-5F17-4BE6-9CCD-0B6DF7C75463}"/>
              </a:ext>
            </a:extLst>
          </p:cNvPr>
          <p:cNvSpPr>
            <a:spLocks noGrp="1"/>
          </p:cNvSpPr>
          <p:nvPr>
            <p:ph type="title"/>
          </p:nvPr>
        </p:nvSpPr>
        <p:spPr/>
        <p:txBody>
          <a:bodyPr/>
          <a:lstStyle/>
          <a:p>
            <a:r>
              <a:rPr lang="en-US" dirty="0"/>
              <a:t>Question 5</a:t>
            </a:r>
          </a:p>
        </p:txBody>
      </p:sp>
      <p:sp>
        <p:nvSpPr>
          <p:cNvPr id="4" name="Footer Placeholder 3">
            <a:extLst>
              <a:ext uri="{FF2B5EF4-FFF2-40B4-BE49-F238E27FC236}">
                <a16:creationId xmlns:a16="http://schemas.microsoft.com/office/drawing/2014/main" id="{ED441F32-D622-4443-8EFB-D6B2D63F13C6}"/>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8037978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1ADD9B-74F0-4A98-8E65-8F502C1B41B5}"/>
              </a:ext>
            </a:extLst>
          </p:cNvPr>
          <p:cNvSpPr>
            <a:spLocks noGrp="1"/>
          </p:cNvSpPr>
          <p:nvPr>
            <p:ph idx="1"/>
          </p:nvPr>
        </p:nvSpPr>
        <p:spPr/>
        <p:txBody>
          <a:bodyPr>
            <a:normAutofit fontScale="92500"/>
          </a:bodyPr>
          <a:lstStyle/>
          <a:p>
            <a:r>
              <a:rPr lang="en-US" dirty="0"/>
              <a:t>The client complaint of an overwhelming urge to sleep. He state he’s been falling asleep while working at his desk. He reports that these episodes occurs about five times daily. This client is most likely experiencing which sleep disorder?</a:t>
            </a:r>
          </a:p>
          <a:p>
            <a:r>
              <a:rPr lang="en-US" dirty="0"/>
              <a:t>a. Breathing-related sleep disorder</a:t>
            </a:r>
          </a:p>
          <a:p>
            <a:r>
              <a:rPr lang="en-US" b="1" dirty="0">
                <a:solidFill>
                  <a:srgbClr val="FF0000"/>
                </a:solidFill>
              </a:rPr>
              <a:t>b. Narcolepsy: Narcolepsy is a condition characterized by an extreme tendency to fall asleep whenever in relaxing surrounding. </a:t>
            </a:r>
          </a:p>
          <a:p>
            <a:r>
              <a:rPr lang="en-US" dirty="0"/>
              <a:t>c. Primary hypersomnia.</a:t>
            </a:r>
          </a:p>
          <a:p>
            <a:r>
              <a:rPr lang="en-US" dirty="0"/>
              <a:t>d. Circadian rhythm disorder. </a:t>
            </a:r>
          </a:p>
        </p:txBody>
      </p:sp>
      <p:sp>
        <p:nvSpPr>
          <p:cNvPr id="3" name="Title 2">
            <a:extLst>
              <a:ext uri="{FF2B5EF4-FFF2-40B4-BE49-F238E27FC236}">
                <a16:creationId xmlns:a16="http://schemas.microsoft.com/office/drawing/2014/main" id="{4C579F74-5F17-4BE6-9CCD-0B6DF7C75463}"/>
              </a:ext>
            </a:extLst>
          </p:cNvPr>
          <p:cNvSpPr>
            <a:spLocks noGrp="1"/>
          </p:cNvSpPr>
          <p:nvPr>
            <p:ph type="title"/>
          </p:nvPr>
        </p:nvSpPr>
        <p:spPr/>
        <p:txBody>
          <a:bodyPr/>
          <a:lstStyle/>
          <a:p>
            <a:r>
              <a:rPr lang="en-US" dirty="0"/>
              <a:t>Question 5: Answer </a:t>
            </a:r>
          </a:p>
        </p:txBody>
      </p:sp>
      <p:sp>
        <p:nvSpPr>
          <p:cNvPr id="4" name="Footer Placeholder 3">
            <a:extLst>
              <a:ext uri="{FF2B5EF4-FFF2-40B4-BE49-F238E27FC236}">
                <a16:creationId xmlns:a16="http://schemas.microsoft.com/office/drawing/2014/main" id="{F6981C3B-2E50-48BB-A709-63ED03632898}"/>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8940963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DDFB41-9298-4B30-AFDA-A66A1DEC66AE}"/>
              </a:ext>
            </a:extLst>
          </p:cNvPr>
          <p:cNvSpPr>
            <a:spLocks noGrp="1"/>
          </p:cNvSpPr>
          <p:nvPr>
            <p:ph idx="1"/>
          </p:nvPr>
        </p:nvSpPr>
        <p:spPr/>
        <p:txBody>
          <a:bodyPr>
            <a:normAutofit lnSpcReduction="10000"/>
          </a:bodyPr>
          <a:lstStyle/>
          <a:p>
            <a:r>
              <a:rPr lang="en-US" dirty="0"/>
              <a:t>A nurse is caring for a client who complaints of fatigue, inability to concentrate, and palpitations. The client states that she has been experiencing these symptoms for the  past 6 months. The nurse suspects that the client is experiencing circadian rhythm sleep disturbance related to which factor?</a:t>
            </a:r>
          </a:p>
          <a:p>
            <a:r>
              <a:rPr lang="en-US" dirty="0"/>
              <a:t>a. History of recent fever</a:t>
            </a:r>
          </a:p>
          <a:p>
            <a:r>
              <a:rPr lang="en-US" dirty="0"/>
              <a:t>b. Shift work</a:t>
            </a:r>
          </a:p>
          <a:p>
            <a:r>
              <a:rPr lang="en-US" dirty="0"/>
              <a:t>c.  Hyperthyroidism</a:t>
            </a:r>
          </a:p>
          <a:p>
            <a:r>
              <a:rPr lang="en-US" dirty="0"/>
              <a:t>d. Pheochromocytoma</a:t>
            </a:r>
          </a:p>
          <a:p>
            <a:endParaRPr lang="en-US" dirty="0"/>
          </a:p>
        </p:txBody>
      </p:sp>
      <p:sp>
        <p:nvSpPr>
          <p:cNvPr id="3" name="Title 2">
            <a:extLst>
              <a:ext uri="{FF2B5EF4-FFF2-40B4-BE49-F238E27FC236}">
                <a16:creationId xmlns:a16="http://schemas.microsoft.com/office/drawing/2014/main" id="{8425FC6B-DDDC-4FFC-9C6C-F7BD25E3756A}"/>
              </a:ext>
            </a:extLst>
          </p:cNvPr>
          <p:cNvSpPr>
            <a:spLocks noGrp="1"/>
          </p:cNvSpPr>
          <p:nvPr>
            <p:ph type="title"/>
          </p:nvPr>
        </p:nvSpPr>
        <p:spPr/>
        <p:txBody>
          <a:bodyPr/>
          <a:lstStyle/>
          <a:p>
            <a:r>
              <a:rPr lang="en-US" dirty="0">
                <a:solidFill>
                  <a:schemeClr val="tx1"/>
                </a:solidFill>
              </a:rPr>
              <a:t>Question 6</a:t>
            </a:r>
          </a:p>
        </p:txBody>
      </p:sp>
      <p:sp>
        <p:nvSpPr>
          <p:cNvPr id="4" name="Footer Placeholder 3">
            <a:extLst>
              <a:ext uri="{FF2B5EF4-FFF2-40B4-BE49-F238E27FC236}">
                <a16:creationId xmlns:a16="http://schemas.microsoft.com/office/drawing/2014/main" id="{0D23758E-6437-4806-82D6-226815E7F53B}"/>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7924901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DDFB41-9298-4B30-AFDA-A66A1DEC66AE}"/>
              </a:ext>
            </a:extLst>
          </p:cNvPr>
          <p:cNvSpPr>
            <a:spLocks noGrp="1"/>
          </p:cNvSpPr>
          <p:nvPr>
            <p:ph idx="1"/>
          </p:nvPr>
        </p:nvSpPr>
        <p:spPr/>
        <p:txBody>
          <a:bodyPr>
            <a:normAutofit fontScale="77500" lnSpcReduction="20000"/>
          </a:bodyPr>
          <a:lstStyle/>
          <a:p>
            <a:r>
              <a:rPr lang="en-US" dirty="0"/>
              <a:t>A nurse is caring for a client who complaints of fatigue, inability to concentrate, and palpitations. The client states that she has been experiencing these symptoms for the  past 6 months. The nurse suspects that the client is experiencing circadian rhythm sleep disturbance related to which factor?</a:t>
            </a:r>
          </a:p>
          <a:p>
            <a:r>
              <a:rPr lang="en-US" dirty="0"/>
              <a:t>a. History of recent fever</a:t>
            </a:r>
          </a:p>
          <a:p>
            <a:r>
              <a:rPr lang="en-US" b="1" dirty="0">
                <a:solidFill>
                  <a:srgbClr val="FF0000"/>
                </a:solidFill>
              </a:rPr>
              <a:t>b. Shift work: The internal circadian clock adapts slowly, if at all, to rapid transitions between different shift schedules. This leads to misalignment (desynchrony) of rhythmic physiological systems, such as sleep, alertness, performance, metabolism and the hormones melatonin and cortisol, with the imposed work–rest schedule.</a:t>
            </a:r>
          </a:p>
          <a:p>
            <a:r>
              <a:rPr lang="en-US" dirty="0"/>
              <a:t>c.  Hyperthyroidism</a:t>
            </a:r>
          </a:p>
          <a:p>
            <a:r>
              <a:rPr lang="en-US" dirty="0"/>
              <a:t>d. Pheochromocytoma</a:t>
            </a:r>
          </a:p>
          <a:p>
            <a:endParaRPr lang="en-US" dirty="0"/>
          </a:p>
        </p:txBody>
      </p:sp>
      <p:sp>
        <p:nvSpPr>
          <p:cNvPr id="3" name="Title 2">
            <a:extLst>
              <a:ext uri="{FF2B5EF4-FFF2-40B4-BE49-F238E27FC236}">
                <a16:creationId xmlns:a16="http://schemas.microsoft.com/office/drawing/2014/main" id="{8425FC6B-DDDC-4FFC-9C6C-F7BD25E3756A}"/>
              </a:ext>
            </a:extLst>
          </p:cNvPr>
          <p:cNvSpPr>
            <a:spLocks noGrp="1"/>
          </p:cNvSpPr>
          <p:nvPr>
            <p:ph type="title"/>
          </p:nvPr>
        </p:nvSpPr>
        <p:spPr/>
        <p:txBody>
          <a:bodyPr/>
          <a:lstStyle/>
          <a:p>
            <a:r>
              <a:rPr lang="en-US" dirty="0">
                <a:solidFill>
                  <a:schemeClr val="tx1"/>
                </a:solidFill>
              </a:rPr>
              <a:t>Question 6: Answe</a:t>
            </a:r>
            <a:r>
              <a:rPr lang="en-US" dirty="0"/>
              <a:t>r </a:t>
            </a:r>
          </a:p>
        </p:txBody>
      </p:sp>
      <p:sp>
        <p:nvSpPr>
          <p:cNvPr id="4" name="Footer Placeholder 3">
            <a:extLst>
              <a:ext uri="{FF2B5EF4-FFF2-40B4-BE49-F238E27FC236}">
                <a16:creationId xmlns:a16="http://schemas.microsoft.com/office/drawing/2014/main" id="{DE9AD2C8-17CC-4CD8-8026-DD5BC0F82ECC}"/>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3864531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6243FB-359F-4B70-9547-8E986A2580C6}"/>
              </a:ext>
            </a:extLst>
          </p:cNvPr>
          <p:cNvSpPr>
            <a:spLocks noGrp="1"/>
          </p:cNvSpPr>
          <p:nvPr>
            <p:ph idx="1"/>
          </p:nvPr>
        </p:nvSpPr>
        <p:spPr/>
        <p:txBody>
          <a:bodyPr/>
          <a:lstStyle/>
          <a:p>
            <a:r>
              <a:rPr lang="en-US" dirty="0"/>
              <a:t>A client comes to the clinic complaining of the inability to sleep over the past 2 months. He states that his inability to sleep is ruining his life because getting to sleep is all he can think about . This client is mostly experiencing which sleep disorder?</a:t>
            </a:r>
          </a:p>
          <a:p>
            <a:r>
              <a:rPr lang="en-US" dirty="0"/>
              <a:t>a. Circadian rhythm sleep disorder</a:t>
            </a:r>
          </a:p>
          <a:p>
            <a:r>
              <a:rPr lang="en-US" dirty="0"/>
              <a:t>b. Breathing related sleep disorder</a:t>
            </a:r>
          </a:p>
          <a:p>
            <a:r>
              <a:rPr lang="en-US" dirty="0"/>
              <a:t>c. Primary insomnia</a:t>
            </a:r>
          </a:p>
          <a:p>
            <a:r>
              <a:rPr lang="en-US" dirty="0"/>
              <a:t>d. Primary hypersomnia</a:t>
            </a:r>
          </a:p>
        </p:txBody>
      </p:sp>
      <p:sp>
        <p:nvSpPr>
          <p:cNvPr id="3" name="Title 2">
            <a:extLst>
              <a:ext uri="{FF2B5EF4-FFF2-40B4-BE49-F238E27FC236}">
                <a16:creationId xmlns:a16="http://schemas.microsoft.com/office/drawing/2014/main" id="{FE234740-22B4-46B9-89FD-4F62504C381C}"/>
              </a:ext>
            </a:extLst>
          </p:cNvPr>
          <p:cNvSpPr>
            <a:spLocks noGrp="1"/>
          </p:cNvSpPr>
          <p:nvPr>
            <p:ph type="title"/>
          </p:nvPr>
        </p:nvSpPr>
        <p:spPr/>
        <p:txBody>
          <a:bodyPr/>
          <a:lstStyle/>
          <a:p>
            <a:r>
              <a:rPr lang="en-US" dirty="0"/>
              <a:t>Question 7</a:t>
            </a:r>
          </a:p>
        </p:txBody>
      </p:sp>
      <p:sp>
        <p:nvSpPr>
          <p:cNvPr id="4" name="Footer Placeholder 3">
            <a:extLst>
              <a:ext uri="{FF2B5EF4-FFF2-40B4-BE49-F238E27FC236}">
                <a16:creationId xmlns:a16="http://schemas.microsoft.com/office/drawing/2014/main" id="{A0657ECA-85F4-428C-ADE5-98DDC19FEEAE}"/>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6343628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6243FB-359F-4B70-9547-8E986A2580C6}"/>
              </a:ext>
            </a:extLst>
          </p:cNvPr>
          <p:cNvSpPr>
            <a:spLocks noGrp="1"/>
          </p:cNvSpPr>
          <p:nvPr>
            <p:ph idx="1"/>
          </p:nvPr>
        </p:nvSpPr>
        <p:spPr/>
        <p:txBody>
          <a:bodyPr>
            <a:normAutofit fontScale="85000" lnSpcReduction="20000"/>
          </a:bodyPr>
          <a:lstStyle/>
          <a:p>
            <a:r>
              <a:rPr lang="en-US" dirty="0"/>
              <a:t>A client comes to the clinic complaining of the inability to sleep over the past 2 months. He states that his inability to sleep is ruining his life because getting to sleep is all he can think about . This client is mostly experiencing which sleep disorder?</a:t>
            </a:r>
          </a:p>
          <a:p>
            <a:r>
              <a:rPr lang="en-US" dirty="0"/>
              <a:t>a. Circadian rhythm sleep disorder</a:t>
            </a:r>
          </a:p>
          <a:p>
            <a:r>
              <a:rPr lang="en-US" b="1" dirty="0">
                <a:solidFill>
                  <a:srgbClr val="FF0000"/>
                </a:solidFill>
              </a:rPr>
              <a:t>b. Breathing related sleep disorder: The term breathing-related sleep disorder refers to a spectrum of breathing anomalies ranging from chronic or habitual snoring to upper airway resistance syndrome (UARS) to frank obstructive sleep apnea (OSA) or, in some cases, obesity hypoventilation syndrome (OHS).</a:t>
            </a:r>
          </a:p>
          <a:p>
            <a:r>
              <a:rPr lang="en-US" dirty="0"/>
              <a:t>c. Primary insomnia</a:t>
            </a:r>
          </a:p>
          <a:p>
            <a:r>
              <a:rPr lang="en-US" dirty="0"/>
              <a:t>d. Primary hypersomnia</a:t>
            </a:r>
          </a:p>
        </p:txBody>
      </p:sp>
      <p:sp>
        <p:nvSpPr>
          <p:cNvPr id="3" name="Title 2">
            <a:extLst>
              <a:ext uri="{FF2B5EF4-FFF2-40B4-BE49-F238E27FC236}">
                <a16:creationId xmlns:a16="http://schemas.microsoft.com/office/drawing/2014/main" id="{FE234740-22B4-46B9-89FD-4F62504C381C}"/>
              </a:ext>
            </a:extLst>
          </p:cNvPr>
          <p:cNvSpPr>
            <a:spLocks noGrp="1"/>
          </p:cNvSpPr>
          <p:nvPr>
            <p:ph type="title"/>
          </p:nvPr>
        </p:nvSpPr>
        <p:spPr/>
        <p:txBody>
          <a:bodyPr/>
          <a:lstStyle/>
          <a:p>
            <a:r>
              <a:rPr lang="en-US" dirty="0">
                <a:solidFill>
                  <a:schemeClr val="tx1"/>
                </a:solidFill>
              </a:rPr>
              <a:t>Question 7: Answ</a:t>
            </a:r>
            <a:r>
              <a:rPr lang="en-US" dirty="0"/>
              <a:t>er </a:t>
            </a:r>
          </a:p>
        </p:txBody>
      </p:sp>
      <p:sp>
        <p:nvSpPr>
          <p:cNvPr id="4" name="Footer Placeholder 3">
            <a:extLst>
              <a:ext uri="{FF2B5EF4-FFF2-40B4-BE49-F238E27FC236}">
                <a16:creationId xmlns:a16="http://schemas.microsoft.com/office/drawing/2014/main" id="{88154F8A-7246-4FD8-AE9D-3AEEB0AE393F}"/>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0065872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69A659-AB7C-4BB9-818C-BBFE90946FCC}"/>
              </a:ext>
            </a:extLst>
          </p:cNvPr>
          <p:cNvSpPr>
            <a:spLocks noGrp="1"/>
          </p:cNvSpPr>
          <p:nvPr>
            <p:ph idx="1"/>
          </p:nvPr>
        </p:nvSpPr>
        <p:spPr/>
        <p:txBody>
          <a:bodyPr>
            <a:normAutofit lnSpcReduction="10000"/>
          </a:bodyPr>
          <a:lstStyle/>
          <a:p>
            <a:r>
              <a:rPr lang="en-US" dirty="0"/>
              <a:t>A nurse is preparing a teaching plan for a client diagnosed with primary insomnia. Which teaching topic should be included.</a:t>
            </a:r>
          </a:p>
          <a:p>
            <a:r>
              <a:rPr lang="en-US" dirty="0"/>
              <a:t>a. Eating unlimited spicy foods and limiting caffeine and alcohol.</a:t>
            </a:r>
          </a:p>
          <a:p>
            <a:r>
              <a:rPr lang="en-US" dirty="0"/>
              <a:t>b. Exercising 1 hour before bedtime to promote sleep.</a:t>
            </a:r>
          </a:p>
          <a:p>
            <a:r>
              <a:rPr lang="en-US" dirty="0"/>
              <a:t>c. Importance of sleeping whenever the client tires.</a:t>
            </a:r>
          </a:p>
          <a:p>
            <a:r>
              <a:rPr lang="en-US" dirty="0"/>
              <a:t>d. Drinking warm milk before bed to induce sleep.</a:t>
            </a:r>
          </a:p>
        </p:txBody>
      </p:sp>
      <p:sp>
        <p:nvSpPr>
          <p:cNvPr id="3" name="Title 2">
            <a:extLst>
              <a:ext uri="{FF2B5EF4-FFF2-40B4-BE49-F238E27FC236}">
                <a16:creationId xmlns:a16="http://schemas.microsoft.com/office/drawing/2014/main" id="{26C960A2-A7AF-4A4F-85E6-948B6B172589}"/>
              </a:ext>
            </a:extLst>
          </p:cNvPr>
          <p:cNvSpPr>
            <a:spLocks noGrp="1"/>
          </p:cNvSpPr>
          <p:nvPr>
            <p:ph type="title"/>
          </p:nvPr>
        </p:nvSpPr>
        <p:spPr/>
        <p:txBody>
          <a:bodyPr/>
          <a:lstStyle/>
          <a:p>
            <a:r>
              <a:rPr lang="en-US" dirty="0">
                <a:solidFill>
                  <a:schemeClr val="tx1"/>
                </a:solidFill>
              </a:rPr>
              <a:t>Question 8</a:t>
            </a:r>
          </a:p>
        </p:txBody>
      </p:sp>
      <p:sp>
        <p:nvSpPr>
          <p:cNvPr id="4" name="Footer Placeholder 3">
            <a:extLst>
              <a:ext uri="{FF2B5EF4-FFF2-40B4-BE49-F238E27FC236}">
                <a16:creationId xmlns:a16="http://schemas.microsoft.com/office/drawing/2014/main" id="{FEBD45A4-2AA3-4F32-A2CC-A5C27E7C920F}"/>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1847303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69A659-AB7C-4BB9-818C-BBFE90946FCC}"/>
              </a:ext>
            </a:extLst>
          </p:cNvPr>
          <p:cNvSpPr>
            <a:spLocks noGrp="1"/>
          </p:cNvSpPr>
          <p:nvPr>
            <p:ph idx="1"/>
          </p:nvPr>
        </p:nvSpPr>
        <p:spPr/>
        <p:txBody>
          <a:bodyPr>
            <a:normAutofit fontScale="85000" lnSpcReduction="20000"/>
          </a:bodyPr>
          <a:lstStyle/>
          <a:p>
            <a:r>
              <a:rPr lang="en-US" dirty="0"/>
              <a:t>A nurse is preparing a teaching plan for a client diagnosed with primary insomnia. Which teaching topic should be included.</a:t>
            </a:r>
          </a:p>
          <a:p>
            <a:r>
              <a:rPr lang="en-US" dirty="0"/>
              <a:t>a. Eating unlimited spicy foods and limiting caffeine and alcohol.</a:t>
            </a:r>
          </a:p>
          <a:p>
            <a:r>
              <a:rPr lang="en-US" dirty="0"/>
              <a:t>b. Exercising 1 hour before bedtime to promote sleep.</a:t>
            </a:r>
          </a:p>
          <a:p>
            <a:r>
              <a:rPr lang="en-US" dirty="0"/>
              <a:t>c. Importance of sleeping whenever the client tires.</a:t>
            </a:r>
          </a:p>
          <a:p>
            <a:r>
              <a:rPr lang="en-US" b="1" dirty="0">
                <a:solidFill>
                  <a:srgbClr val="FF0000"/>
                </a:solidFill>
              </a:rPr>
              <a:t>d. Drinking warm milk before bed to induce sleep. Drinking warm milk before bed may help you relax, but there is no evidence that milk makes you sleepy. The drowsiness some people experience may be more from the warmth of the milk or a full stomach than the physical effect of any compound in milk.</a:t>
            </a:r>
          </a:p>
        </p:txBody>
      </p:sp>
      <p:sp>
        <p:nvSpPr>
          <p:cNvPr id="3" name="Title 2">
            <a:extLst>
              <a:ext uri="{FF2B5EF4-FFF2-40B4-BE49-F238E27FC236}">
                <a16:creationId xmlns:a16="http://schemas.microsoft.com/office/drawing/2014/main" id="{26C960A2-A7AF-4A4F-85E6-948B6B172589}"/>
              </a:ext>
            </a:extLst>
          </p:cNvPr>
          <p:cNvSpPr>
            <a:spLocks noGrp="1"/>
          </p:cNvSpPr>
          <p:nvPr>
            <p:ph type="title"/>
          </p:nvPr>
        </p:nvSpPr>
        <p:spPr/>
        <p:txBody>
          <a:bodyPr/>
          <a:lstStyle/>
          <a:p>
            <a:r>
              <a:rPr lang="en-US" dirty="0"/>
              <a:t>Question 8</a:t>
            </a:r>
          </a:p>
        </p:txBody>
      </p:sp>
      <p:sp>
        <p:nvSpPr>
          <p:cNvPr id="4" name="Footer Placeholder 3">
            <a:extLst>
              <a:ext uri="{FF2B5EF4-FFF2-40B4-BE49-F238E27FC236}">
                <a16:creationId xmlns:a16="http://schemas.microsoft.com/office/drawing/2014/main" id="{8E1797BD-171E-445D-ABE0-D1A0730FD079}"/>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1842634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6E2D39-EA14-4F0C-AC7A-3F6A39221528}"/>
              </a:ext>
            </a:extLst>
          </p:cNvPr>
          <p:cNvSpPr>
            <a:spLocks noGrp="1"/>
          </p:cNvSpPr>
          <p:nvPr>
            <p:ph idx="1"/>
          </p:nvPr>
        </p:nvSpPr>
        <p:spPr/>
        <p:txBody>
          <a:bodyPr>
            <a:normAutofit fontScale="92500" lnSpcReduction="10000"/>
          </a:bodyPr>
          <a:lstStyle/>
          <a:p>
            <a:r>
              <a:rPr lang="en-US" dirty="0"/>
              <a:t>A nurse is caring for a client who reveals symptoms of sleep disorder during the admission assessment. The client also admits that he has broken down and cried for no apparent reason.  Which criterion is most important for the nurse to initially consider to gain insight into the client’s patterns of sleep and feelings of depression?</a:t>
            </a:r>
          </a:p>
          <a:p>
            <a:r>
              <a:rPr lang="en-US" dirty="0"/>
              <a:t>a. Stressors in the client’s life</a:t>
            </a:r>
          </a:p>
          <a:p>
            <a:r>
              <a:rPr lang="en-US" dirty="0"/>
              <a:t>b.  The client’s weight</a:t>
            </a:r>
          </a:p>
          <a:p>
            <a:r>
              <a:rPr lang="en-US" dirty="0"/>
              <a:t>c.  Periods of apnea</a:t>
            </a:r>
          </a:p>
          <a:p>
            <a:r>
              <a:rPr lang="en-US" dirty="0"/>
              <a:t>D. Sexual activity</a:t>
            </a:r>
          </a:p>
        </p:txBody>
      </p:sp>
      <p:sp>
        <p:nvSpPr>
          <p:cNvPr id="3" name="Title 2">
            <a:extLst>
              <a:ext uri="{FF2B5EF4-FFF2-40B4-BE49-F238E27FC236}">
                <a16:creationId xmlns:a16="http://schemas.microsoft.com/office/drawing/2014/main" id="{80CD7194-F9CF-4EA7-BF7B-146DE1DBCD6A}"/>
              </a:ext>
            </a:extLst>
          </p:cNvPr>
          <p:cNvSpPr>
            <a:spLocks noGrp="1"/>
          </p:cNvSpPr>
          <p:nvPr>
            <p:ph type="title"/>
          </p:nvPr>
        </p:nvSpPr>
        <p:spPr/>
        <p:txBody>
          <a:bodyPr/>
          <a:lstStyle/>
          <a:p>
            <a:r>
              <a:rPr lang="en-US" dirty="0">
                <a:solidFill>
                  <a:schemeClr val="tx1"/>
                </a:solidFill>
              </a:rPr>
              <a:t>Question 9</a:t>
            </a:r>
          </a:p>
        </p:txBody>
      </p:sp>
      <p:sp>
        <p:nvSpPr>
          <p:cNvPr id="4" name="Footer Placeholder 3">
            <a:extLst>
              <a:ext uri="{FF2B5EF4-FFF2-40B4-BE49-F238E27FC236}">
                <a16:creationId xmlns:a16="http://schemas.microsoft.com/office/drawing/2014/main" id="{C679A56E-6E46-4A35-A9B2-8EA60079FDB6}"/>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6654522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6E2D39-EA14-4F0C-AC7A-3F6A39221528}"/>
              </a:ext>
            </a:extLst>
          </p:cNvPr>
          <p:cNvSpPr>
            <a:spLocks noGrp="1"/>
          </p:cNvSpPr>
          <p:nvPr>
            <p:ph idx="1"/>
          </p:nvPr>
        </p:nvSpPr>
        <p:spPr/>
        <p:txBody>
          <a:bodyPr>
            <a:normAutofit fontScale="92500" lnSpcReduction="20000"/>
          </a:bodyPr>
          <a:lstStyle/>
          <a:p>
            <a:r>
              <a:rPr lang="en-US" dirty="0"/>
              <a:t>A nurse is caring for a client who reveals symptoms of sleep disorder during the admission assessment. The client also admits that he has broken down and cried for no apparent reason.  Which criterion is most important for the nurse to initially consider to gain insight into the client’s patterns of sleep and feelings of depression?</a:t>
            </a:r>
          </a:p>
          <a:p>
            <a:r>
              <a:rPr lang="en-US" b="1" dirty="0">
                <a:solidFill>
                  <a:srgbClr val="FF0000"/>
                </a:solidFill>
              </a:rPr>
              <a:t>a. Stressors in the client’s life: The stressors of client’s life can contribute to sleep problems.</a:t>
            </a:r>
          </a:p>
          <a:p>
            <a:r>
              <a:rPr lang="en-US" dirty="0"/>
              <a:t>b.  The client’s weight</a:t>
            </a:r>
          </a:p>
          <a:p>
            <a:r>
              <a:rPr lang="en-US" dirty="0"/>
              <a:t>c.  Periods of apnea</a:t>
            </a:r>
          </a:p>
          <a:p>
            <a:r>
              <a:rPr lang="en-US" dirty="0"/>
              <a:t>D. Sexual activity</a:t>
            </a:r>
          </a:p>
        </p:txBody>
      </p:sp>
      <p:sp>
        <p:nvSpPr>
          <p:cNvPr id="3" name="Title 2">
            <a:extLst>
              <a:ext uri="{FF2B5EF4-FFF2-40B4-BE49-F238E27FC236}">
                <a16:creationId xmlns:a16="http://schemas.microsoft.com/office/drawing/2014/main" id="{80CD7194-F9CF-4EA7-BF7B-146DE1DBCD6A}"/>
              </a:ext>
            </a:extLst>
          </p:cNvPr>
          <p:cNvSpPr>
            <a:spLocks noGrp="1"/>
          </p:cNvSpPr>
          <p:nvPr>
            <p:ph type="title"/>
          </p:nvPr>
        </p:nvSpPr>
        <p:spPr>
          <a:xfrm>
            <a:off x="265272" y="279209"/>
            <a:ext cx="8229600" cy="1143000"/>
          </a:xfrm>
        </p:spPr>
        <p:txBody>
          <a:bodyPr/>
          <a:lstStyle/>
          <a:p>
            <a:r>
              <a:rPr lang="en-US" dirty="0">
                <a:solidFill>
                  <a:schemeClr val="tx1"/>
                </a:solidFill>
              </a:rPr>
              <a:t>Question 9: Answer</a:t>
            </a:r>
            <a:r>
              <a:rPr lang="en-US" dirty="0"/>
              <a:t> </a:t>
            </a:r>
          </a:p>
        </p:txBody>
      </p:sp>
      <p:sp>
        <p:nvSpPr>
          <p:cNvPr id="4" name="Footer Placeholder 3">
            <a:extLst>
              <a:ext uri="{FF2B5EF4-FFF2-40B4-BE49-F238E27FC236}">
                <a16:creationId xmlns:a16="http://schemas.microsoft.com/office/drawing/2014/main" id="{42DC5630-9EC1-44FD-9D08-AE1C0E2EDC54}"/>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17298013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2E710E-AE74-4434-8A30-AB2DDE02374D}"/>
              </a:ext>
            </a:extLst>
          </p:cNvPr>
          <p:cNvSpPr>
            <a:spLocks noGrp="1"/>
          </p:cNvSpPr>
          <p:nvPr>
            <p:ph idx="1"/>
          </p:nvPr>
        </p:nvSpPr>
        <p:spPr/>
        <p:txBody>
          <a:bodyPr/>
          <a:lstStyle/>
          <a:p>
            <a:r>
              <a:rPr lang="en-US" dirty="0"/>
              <a:t>The psychiatric nurse practitioner is prescribing sertraline (Zoloft), a selective serotonin reuptake inhibitor.  What adverse effect about the this drug when providing patient education?</a:t>
            </a:r>
          </a:p>
          <a:p>
            <a:r>
              <a:rPr lang="en-US" dirty="0"/>
              <a:t>a. Agitation</a:t>
            </a:r>
          </a:p>
          <a:p>
            <a:r>
              <a:rPr lang="en-US" dirty="0"/>
              <a:t>b. Sleep disturbance</a:t>
            </a:r>
          </a:p>
          <a:p>
            <a:r>
              <a:rPr lang="en-US" dirty="0"/>
              <a:t>c. Dry mouth</a:t>
            </a:r>
          </a:p>
          <a:p>
            <a:r>
              <a:rPr lang="en-US" dirty="0"/>
              <a:t>d. Less agitation </a:t>
            </a:r>
          </a:p>
          <a:p>
            <a:endParaRPr lang="en-US" dirty="0"/>
          </a:p>
        </p:txBody>
      </p:sp>
      <p:sp>
        <p:nvSpPr>
          <p:cNvPr id="3" name="Title 2">
            <a:extLst>
              <a:ext uri="{FF2B5EF4-FFF2-40B4-BE49-F238E27FC236}">
                <a16:creationId xmlns:a16="http://schemas.microsoft.com/office/drawing/2014/main" id="{7DEF7896-22CB-4BAB-8496-B63AB7751535}"/>
              </a:ext>
            </a:extLst>
          </p:cNvPr>
          <p:cNvSpPr>
            <a:spLocks noGrp="1"/>
          </p:cNvSpPr>
          <p:nvPr>
            <p:ph type="title"/>
          </p:nvPr>
        </p:nvSpPr>
        <p:spPr/>
        <p:txBody>
          <a:bodyPr/>
          <a:lstStyle/>
          <a:p>
            <a:r>
              <a:rPr lang="en-US" dirty="0">
                <a:solidFill>
                  <a:schemeClr val="tx1"/>
                </a:solidFill>
              </a:rPr>
              <a:t>Question 10</a:t>
            </a:r>
          </a:p>
        </p:txBody>
      </p:sp>
      <p:sp>
        <p:nvSpPr>
          <p:cNvPr id="4" name="Footer Placeholder 3">
            <a:extLst>
              <a:ext uri="{FF2B5EF4-FFF2-40B4-BE49-F238E27FC236}">
                <a16:creationId xmlns:a16="http://schemas.microsoft.com/office/drawing/2014/main" id="{52F3CCF3-8B98-4185-B2F3-EE9B1DA03A0D}"/>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5463724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2E710E-AE74-4434-8A30-AB2DDE02374D}"/>
              </a:ext>
            </a:extLst>
          </p:cNvPr>
          <p:cNvSpPr>
            <a:spLocks noGrp="1"/>
          </p:cNvSpPr>
          <p:nvPr>
            <p:ph idx="1"/>
          </p:nvPr>
        </p:nvSpPr>
        <p:spPr/>
        <p:txBody>
          <a:bodyPr>
            <a:normAutofit/>
          </a:bodyPr>
          <a:lstStyle/>
          <a:p>
            <a:r>
              <a:rPr lang="en-US" dirty="0"/>
              <a:t>The psychiatric nurse practitioner is prescribing sertraline (Zoloft), a selective serotonin reuptake inhibitor.  What adverse effect about the this drug when providing patient education? </a:t>
            </a:r>
            <a:r>
              <a:rPr lang="en-US" b="1" dirty="0"/>
              <a:t>(Select all that apply)</a:t>
            </a:r>
          </a:p>
          <a:p>
            <a:r>
              <a:rPr lang="en-US" b="1" dirty="0">
                <a:solidFill>
                  <a:srgbClr val="FF0000"/>
                </a:solidFill>
              </a:rPr>
              <a:t>a. Agitation</a:t>
            </a:r>
          </a:p>
          <a:p>
            <a:r>
              <a:rPr lang="en-US" b="1" dirty="0">
                <a:solidFill>
                  <a:srgbClr val="FF0000"/>
                </a:solidFill>
              </a:rPr>
              <a:t>b. Sleep disturbance</a:t>
            </a:r>
          </a:p>
          <a:p>
            <a:r>
              <a:rPr lang="en-US" b="1" dirty="0">
                <a:solidFill>
                  <a:srgbClr val="FF0000"/>
                </a:solidFill>
              </a:rPr>
              <a:t>c. Dry mouth</a:t>
            </a:r>
          </a:p>
          <a:p>
            <a:r>
              <a:rPr lang="en-US" dirty="0"/>
              <a:t>d. Less agitation</a:t>
            </a:r>
          </a:p>
          <a:p>
            <a:r>
              <a:rPr lang="en-US" b="1" dirty="0">
                <a:solidFill>
                  <a:srgbClr val="FF0000"/>
                </a:solidFill>
              </a:rPr>
              <a:t>Answer a,b,c, These are side effects of Z</a:t>
            </a:r>
            <a:r>
              <a:rPr lang="en-US" dirty="0"/>
              <a:t>oloft. </a:t>
            </a:r>
          </a:p>
          <a:p>
            <a:endParaRPr lang="en-US" dirty="0"/>
          </a:p>
        </p:txBody>
      </p:sp>
      <p:sp>
        <p:nvSpPr>
          <p:cNvPr id="3" name="Title 2">
            <a:extLst>
              <a:ext uri="{FF2B5EF4-FFF2-40B4-BE49-F238E27FC236}">
                <a16:creationId xmlns:a16="http://schemas.microsoft.com/office/drawing/2014/main" id="{7DEF7896-22CB-4BAB-8496-B63AB7751535}"/>
              </a:ext>
            </a:extLst>
          </p:cNvPr>
          <p:cNvSpPr>
            <a:spLocks noGrp="1"/>
          </p:cNvSpPr>
          <p:nvPr>
            <p:ph type="title"/>
          </p:nvPr>
        </p:nvSpPr>
        <p:spPr/>
        <p:txBody>
          <a:bodyPr/>
          <a:lstStyle/>
          <a:p>
            <a:r>
              <a:rPr lang="en-US" dirty="0"/>
              <a:t>Question 10: Answer </a:t>
            </a:r>
          </a:p>
        </p:txBody>
      </p:sp>
      <p:sp>
        <p:nvSpPr>
          <p:cNvPr id="4" name="Footer Placeholder 3">
            <a:extLst>
              <a:ext uri="{FF2B5EF4-FFF2-40B4-BE49-F238E27FC236}">
                <a16:creationId xmlns:a16="http://schemas.microsoft.com/office/drawing/2014/main" id="{02FB7207-2A34-4216-A20E-E5E816FE953B}"/>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318967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C48614-C61D-4EFC-9556-AA0BAD305B0F}"/>
              </a:ext>
            </a:extLst>
          </p:cNvPr>
          <p:cNvSpPr>
            <a:spLocks noGrp="1"/>
          </p:cNvSpPr>
          <p:nvPr>
            <p:ph idx="1"/>
          </p:nvPr>
        </p:nvSpPr>
        <p:spPr/>
        <p:txBody>
          <a:bodyPr>
            <a:normAutofit fontScale="92500" lnSpcReduction="20000"/>
          </a:bodyPr>
          <a:lstStyle/>
          <a:p>
            <a:r>
              <a:rPr lang="en-US" dirty="0"/>
              <a:t> A widow is hospitalized after complaining of difficulty sleeping, extreme apprehension, shortness of breath, and a sense of impending doom. Which response by the nurse would be best?</a:t>
            </a:r>
          </a:p>
          <a:p>
            <a:r>
              <a:rPr lang="en-US" dirty="0"/>
              <a:t>a. “You have nothing to worry about. You’re in a safe place. “Try to relax.” </a:t>
            </a:r>
          </a:p>
          <a:p>
            <a:r>
              <a:rPr lang="en-US" dirty="0"/>
              <a:t>b. “Has anything happened recently or in the past that may have triggered these feelings?”</a:t>
            </a:r>
          </a:p>
          <a:p>
            <a:r>
              <a:rPr lang="en-US" dirty="0"/>
              <a:t>c.  “We have given you a mediation that will help to decrease these feelings of anxiety.”</a:t>
            </a:r>
          </a:p>
          <a:p>
            <a:r>
              <a:rPr lang="en-US" dirty="0"/>
              <a:t>d. “Take some seep breaths and try to calm down.”</a:t>
            </a:r>
          </a:p>
        </p:txBody>
      </p:sp>
      <p:sp>
        <p:nvSpPr>
          <p:cNvPr id="3" name="Title 2">
            <a:extLst>
              <a:ext uri="{FF2B5EF4-FFF2-40B4-BE49-F238E27FC236}">
                <a16:creationId xmlns:a16="http://schemas.microsoft.com/office/drawing/2014/main" id="{F9629486-0F8E-45A8-AB02-F08ACBB5D72C}"/>
              </a:ext>
            </a:extLst>
          </p:cNvPr>
          <p:cNvSpPr>
            <a:spLocks noGrp="1"/>
          </p:cNvSpPr>
          <p:nvPr>
            <p:ph type="title"/>
          </p:nvPr>
        </p:nvSpPr>
        <p:spPr/>
        <p:txBody>
          <a:bodyPr/>
          <a:lstStyle/>
          <a:p>
            <a:r>
              <a:rPr lang="en-US" dirty="0">
                <a:solidFill>
                  <a:schemeClr val="tx1"/>
                </a:solidFill>
              </a:rPr>
              <a:t>Question 11</a:t>
            </a:r>
          </a:p>
        </p:txBody>
      </p:sp>
      <p:sp>
        <p:nvSpPr>
          <p:cNvPr id="4" name="Footer Placeholder 3">
            <a:extLst>
              <a:ext uri="{FF2B5EF4-FFF2-40B4-BE49-F238E27FC236}">
                <a16:creationId xmlns:a16="http://schemas.microsoft.com/office/drawing/2014/main" id="{3DF0FA3A-852A-4695-B332-5FF24911E76C}"/>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4929834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C48614-C61D-4EFC-9556-AA0BAD305B0F}"/>
              </a:ext>
            </a:extLst>
          </p:cNvPr>
          <p:cNvSpPr>
            <a:spLocks noGrp="1"/>
          </p:cNvSpPr>
          <p:nvPr>
            <p:ph idx="1"/>
          </p:nvPr>
        </p:nvSpPr>
        <p:spPr/>
        <p:txBody>
          <a:bodyPr>
            <a:normAutofit fontScale="85000" lnSpcReduction="10000"/>
          </a:bodyPr>
          <a:lstStyle/>
          <a:p>
            <a:r>
              <a:rPr lang="en-US" dirty="0"/>
              <a:t> A widow is hospitalized after complaining of difficulty sleeping, extreme apprehension, shortness of breath, and a sense of impending doom. Which response by the nurse would be best?</a:t>
            </a:r>
          </a:p>
          <a:p>
            <a:r>
              <a:rPr lang="en-US" dirty="0"/>
              <a:t>a. “You have nothing to worry about. You’re in a safe place. “Try to relax.” </a:t>
            </a:r>
          </a:p>
          <a:p>
            <a:r>
              <a:rPr lang="en-US" b="1" dirty="0">
                <a:solidFill>
                  <a:srgbClr val="FF0000"/>
                </a:solidFill>
              </a:rPr>
              <a:t>b. “Has anything happened recently or in the past that may have triggered these feelings?” The nurse needs to explore if a stressor in client’s life is causing difficulty sleeping.</a:t>
            </a:r>
          </a:p>
          <a:p>
            <a:r>
              <a:rPr lang="en-US" dirty="0"/>
              <a:t>c.  “We have given you a mediation that will help to decrease these feelings of anxiety.”</a:t>
            </a:r>
          </a:p>
          <a:p>
            <a:r>
              <a:rPr lang="en-US" dirty="0"/>
              <a:t>d. “Take some seep breaths and try to calm down.”</a:t>
            </a:r>
          </a:p>
        </p:txBody>
      </p:sp>
      <p:sp>
        <p:nvSpPr>
          <p:cNvPr id="3" name="Title 2">
            <a:extLst>
              <a:ext uri="{FF2B5EF4-FFF2-40B4-BE49-F238E27FC236}">
                <a16:creationId xmlns:a16="http://schemas.microsoft.com/office/drawing/2014/main" id="{F9629486-0F8E-45A8-AB02-F08ACBB5D72C}"/>
              </a:ext>
            </a:extLst>
          </p:cNvPr>
          <p:cNvSpPr>
            <a:spLocks noGrp="1"/>
          </p:cNvSpPr>
          <p:nvPr>
            <p:ph type="title"/>
          </p:nvPr>
        </p:nvSpPr>
        <p:spPr/>
        <p:txBody>
          <a:bodyPr/>
          <a:lstStyle/>
          <a:p>
            <a:r>
              <a:rPr lang="en-US" dirty="0">
                <a:solidFill>
                  <a:schemeClr val="tx1"/>
                </a:solidFill>
              </a:rPr>
              <a:t>Question 11: Answer </a:t>
            </a:r>
          </a:p>
        </p:txBody>
      </p:sp>
      <p:sp>
        <p:nvSpPr>
          <p:cNvPr id="4" name="Footer Placeholder 3">
            <a:extLst>
              <a:ext uri="{FF2B5EF4-FFF2-40B4-BE49-F238E27FC236}">
                <a16:creationId xmlns:a16="http://schemas.microsoft.com/office/drawing/2014/main" id="{C584525C-8509-4C29-B19F-E7A35EE96108}"/>
              </a:ext>
            </a:extLst>
          </p:cNvPr>
          <p:cNvSpPr>
            <a:spLocks noGrp="1"/>
          </p:cNvSpPr>
          <p:nvPr>
            <p:ph type="ftr" sz="quarter" idx="11"/>
          </p:nvPr>
        </p:nvSpPr>
        <p:spPr/>
        <p:txBody>
          <a:bodyPr/>
          <a:lstStyle/>
          <a:p>
            <a:r>
              <a:rPr lang="en-US" dirty="0"/>
              <a:t>BRK Global Healthcare Consulting Firm, LLC</a:t>
            </a:r>
          </a:p>
        </p:txBody>
      </p:sp>
    </p:spTree>
    <p:extLst>
      <p:ext uri="{BB962C8B-B14F-4D97-AF65-F5344CB8AC3E}">
        <p14:creationId xmlns:p14="http://schemas.microsoft.com/office/powerpoint/2010/main" val="30528032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dirty="0"/>
              <a:t>American Psychiatric Association (2013). </a:t>
            </a:r>
            <a:r>
              <a:rPr lang="en-US" sz="2400" i="1" dirty="0"/>
              <a:t>Diagnostic</a:t>
            </a:r>
          </a:p>
          <a:p>
            <a:r>
              <a:rPr lang="en-US" sz="2400" i="1" dirty="0"/>
              <a:t>       and Statistical Manual of Mental Disorders</a:t>
            </a:r>
          </a:p>
          <a:p>
            <a:r>
              <a:rPr lang="en-US" sz="2400" i="1" dirty="0"/>
              <a:t>        (DSM-5), Fifth edition</a:t>
            </a:r>
            <a:r>
              <a:rPr lang="en-US" sz="2400" dirty="0"/>
              <a:t>.</a:t>
            </a:r>
          </a:p>
          <a:p>
            <a:pPr>
              <a:lnSpc>
                <a:spcPct val="80000"/>
              </a:lnSpc>
            </a:pPr>
            <a:r>
              <a:rPr lang="en-US" altLang="en-US" sz="2400" dirty="0"/>
              <a:t>Kennedy, B.R. (2020) </a:t>
            </a:r>
            <a:r>
              <a:rPr lang="en-US" altLang="en-US" sz="2400" i="1" dirty="0"/>
              <a:t>Psychosocial Nursing, 	Psychopharmacology</a:t>
            </a:r>
          </a:p>
          <a:p>
            <a:pPr>
              <a:lnSpc>
                <a:spcPct val="80000"/>
              </a:lnSpc>
            </a:pPr>
            <a:r>
              <a:rPr lang="en-US" altLang="en-US" sz="2400" i="1" dirty="0"/>
              <a:t>      Module.  (3</a:t>
            </a:r>
            <a:r>
              <a:rPr lang="en-US" altLang="en-US" sz="2400" dirty="0"/>
              <a:t>rd ed.). BRK Healthcare Publication. </a:t>
            </a:r>
            <a:endParaRPr lang="en-US" sz="2400" dirty="0"/>
          </a:p>
          <a:p>
            <a:r>
              <a:rPr lang="en-US" sz="2400" dirty="0"/>
              <a:t>National Sleep Foundation (2015). Sleep Health</a:t>
            </a:r>
          </a:p>
          <a:p>
            <a:r>
              <a:rPr lang="en-US" sz="2400" dirty="0"/>
              <a:t>      Index 2014 – Highlights, retrieved from</a:t>
            </a:r>
          </a:p>
          <a:p>
            <a:pPr marL="109728" indent="0">
              <a:buNone/>
            </a:pPr>
            <a:r>
              <a:rPr lang="en-US" sz="2400" u="sng" dirty="0">
                <a:hlinkClick r:id="rId2">
                  <a:extLst>
                    <a:ext uri="{A12FA001-AC4F-418D-AE19-62706E023703}">
                      <ahyp:hlinkClr xmlns:ahyp="http://schemas.microsoft.com/office/drawing/2018/hyperlinkcolor" val="tx"/>
                    </a:ext>
                  </a:extLst>
                </a:hlinkClick>
              </a:rPr>
              <a:t>	https://www.sleepfoundation</a:t>
            </a:r>
            <a:r>
              <a:rPr lang="en-US" sz="2400" dirty="0"/>
              <a:t>. org/sleep</a:t>
            </a:r>
          </a:p>
          <a:p>
            <a:r>
              <a:rPr lang="en-US" sz="2400" dirty="0"/>
              <a:t>       health-index-2014-highlights</a:t>
            </a:r>
          </a:p>
          <a:p>
            <a:endParaRPr lang="en-US" dirty="0"/>
          </a:p>
          <a:p>
            <a:endParaRPr lang="en-US" dirty="0"/>
          </a:p>
          <a:p>
            <a:endParaRPr lang="en-US" dirty="0"/>
          </a:p>
          <a:p>
            <a:endParaRPr lang="en-US" dirty="0"/>
          </a:p>
        </p:txBody>
      </p:sp>
      <p:sp>
        <p:nvSpPr>
          <p:cNvPr id="3" name="Title 2"/>
          <p:cNvSpPr>
            <a:spLocks noGrp="1"/>
          </p:cNvSpPr>
          <p:nvPr>
            <p:ph type="title"/>
          </p:nvPr>
        </p:nvSpPr>
        <p:spPr/>
        <p:txBody>
          <a:bodyPr/>
          <a:lstStyle/>
          <a:p>
            <a:r>
              <a:rPr lang="en-US" dirty="0"/>
              <a:t>References </a:t>
            </a:r>
          </a:p>
        </p:txBody>
      </p:sp>
      <p:sp>
        <p:nvSpPr>
          <p:cNvPr id="4" name="Footer Placeholder 3">
            <a:extLst>
              <a:ext uri="{FF2B5EF4-FFF2-40B4-BE49-F238E27FC236}">
                <a16:creationId xmlns:a16="http://schemas.microsoft.com/office/drawing/2014/main" id="{A33C2AE0-9294-4448-92C7-3192E6F7A49A}"/>
              </a:ext>
            </a:extLst>
          </p:cNvPr>
          <p:cNvSpPr>
            <a:spLocks noGrp="1"/>
          </p:cNvSpPr>
          <p:nvPr>
            <p:ph type="ftr" sz="quarter" idx="11"/>
          </p:nvPr>
        </p:nvSpPr>
        <p:spPr/>
        <p:txBody>
          <a:bodyPr/>
          <a:lstStyle/>
          <a:p>
            <a:r>
              <a:rPr lang="en-US" dirty="0"/>
              <a:t>BRK Global Healthcare Consulting Firm, LLC</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4960</TotalTime>
  <Words>5808</Words>
  <Application>Microsoft Office PowerPoint</Application>
  <PresentationFormat>On-screen Show (4:3)</PresentationFormat>
  <Paragraphs>480</Paragraphs>
  <Slides>77</Slides>
  <Notes>1</Notes>
  <HiddenSlides>11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77</vt:i4>
      </vt:variant>
    </vt:vector>
  </HeadingPairs>
  <TitlesOfParts>
    <vt:vector size="85" baseType="lpstr">
      <vt:lpstr>Arial</vt:lpstr>
      <vt:lpstr>Calibri</vt:lpstr>
      <vt:lpstr>Lucida Sans Unicode</vt:lpstr>
      <vt:lpstr>Verdana</vt:lpstr>
      <vt:lpstr>Wingdings</vt:lpstr>
      <vt:lpstr>Wingdings 2</vt:lpstr>
      <vt:lpstr>Wingdings 3</vt:lpstr>
      <vt:lpstr>Concourse</vt:lpstr>
      <vt:lpstr>Insomnia Disorder  Disorder Class: Sleep-Wake  Disorders </vt:lpstr>
      <vt:lpstr>Training Objectives </vt:lpstr>
      <vt:lpstr>Objectives </vt:lpstr>
      <vt:lpstr>Overview</vt:lpstr>
      <vt:lpstr>Outline</vt:lpstr>
      <vt:lpstr>Overview</vt:lpstr>
      <vt:lpstr>Overview </vt:lpstr>
      <vt:lpstr>Overview </vt:lpstr>
      <vt:lpstr>Overview </vt:lpstr>
      <vt:lpstr>Sleep Recommendations </vt:lpstr>
      <vt:lpstr>Sleep Recommendation </vt:lpstr>
      <vt:lpstr>Sleep Recommendations (National Sleep Foundation)</vt:lpstr>
      <vt:lpstr>Five Stages of Sleep  </vt:lpstr>
      <vt:lpstr>Five Stages of Sleep </vt:lpstr>
      <vt:lpstr>     Assessment of Sleep Patterns </vt:lpstr>
      <vt:lpstr>Assessment of Sleep Patterns (Cont.’) </vt:lpstr>
      <vt:lpstr>Assessment of Sleep Patterns (Cont.’) </vt:lpstr>
      <vt:lpstr>Assessment of Sleep Patterns (Cont.’)</vt:lpstr>
      <vt:lpstr>Assessment of Sleep Patterns (Cont.’)</vt:lpstr>
      <vt:lpstr>Assessment of Sleep Patterns (Cont.’)</vt:lpstr>
      <vt:lpstr>Assessment of Sleep Patterns (Cont.’)</vt:lpstr>
      <vt:lpstr>Assessment of Sleep Patterns (Cont.’)</vt:lpstr>
      <vt:lpstr>Assessment of Sleep Patterns (Cont.’)</vt:lpstr>
      <vt:lpstr>Assessment of Sleep Patterns (Cont.’)</vt:lpstr>
      <vt:lpstr>     DSM-5 Diagnoses of Sleep Disorders </vt:lpstr>
      <vt:lpstr>DSM-5 Diagnoses of Sleep Disorders (Cont.’)</vt:lpstr>
      <vt:lpstr>DSM-5 Diagnoses of Sleep Disorders (Cont.’)</vt:lpstr>
      <vt:lpstr>DSM-5 Diagnoses of Sleep Disorders (Cont.’)</vt:lpstr>
      <vt:lpstr>DSM-5 Diagnoses of Sleep Disorders (Cont.’)</vt:lpstr>
      <vt:lpstr>DSM-5 Diagnoses of Sleep Disorders (Cont.’)</vt:lpstr>
      <vt:lpstr>DSM-5 Diagnoses of Sleep Disorders (Cont.’)</vt:lpstr>
      <vt:lpstr>DSM-5 Diagnoses of Sleep Disorders (Cont.’)</vt:lpstr>
      <vt:lpstr>DSM-5 Diagnoses of Sleep Disorders (Cont.’)</vt:lpstr>
      <vt:lpstr>DSM-5 Diagnoses of Sleep Disorders (Cont.’)</vt:lpstr>
      <vt:lpstr>DSM-5 Diagnoses of Sleep Disorders (Cont.’)</vt:lpstr>
      <vt:lpstr>DSM-5 Diagnoses of Sleep Disorders (Cont.’)</vt:lpstr>
      <vt:lpstr>DSM-5 Diagnoses of Sleep Disorders (Cont.’)</vt:lpstr>
      <vt:lpstr>     Nursing Diagnoses </vt:lpstr>
      <vt:lpstr>Nursing Diagnoses </vt:lpstr>
      <vt:lpstr>     Symptoms of Sleep Disorders </vt:lpstr>
      <vt:lpstr>Symptoms of Sleep Disorders </vt:lpstr>
      <vt:lpstr>Symptoms of Sleep Disorders </vt:lpstr>
      <vt:lpstr>        Consequences of Lack of Sleep and Coexisting Conditions </vt:lpstr>
      <vt:lpstr>Consequences of Lack of Sleep and Coexisting Conditions </vt:lpstr>
      <vt:lpstr>Consequences of Lack of Sleep and Coexisting Conditions (Cont.’)</vt:lpstr>
      <vt:lpstr>Consequences of Lack of Sleep and Coexisting Conditions (Cont.’)</vt:lpstr>
      <vt:lpstr>Consequences of Lack of Sleep and Coexisting Conditions (Cont.’)</vt:lpstr>
      <vt:lpstr>    Techniques for Sleep Hygiene  </vt:lpstr>
      <vt:lpstr>Techniques for Sleep Hygiene </vt:lpstr>
      <vt:lpstr>Techniques for Sleep Hygiene (Cont.’)</vt:lpstr>
      <vt:lpstr>   Evaluation/ Outcomes </vt:lpstr>
      <vt:lpstr> Evaluation/ Outcomes </vt:lpstr>
      <vt:lpstr>Evaluation/ Outcomes</vt:lpstr>
      <vt:lpstr>   Practice Exam </vt:lpstr>
      <vt:lpstr>Question 1 </vt:lpstr>
      <vt:lpstr>Question 1: Answer  </vt:lpstr>
      <vt:lpstr>Question 2</vt:lpstr>
      <vt:lpstr>Question 2: Answer </vt:lpstr>
      <vt:lpstr>Question 3</vt:lpstr>
      <vt:lpstr>Question 3: Answer </vt:lpstr>
      <vt:lpstr>Question 4</vt:lpstr>
      <vt:lpstr>Question 4: Answer </vt:lpstr>
      <vt:lpstr>Question 5</vt:lpstr>
      <vt:lpstr>Question 5: Answer </vt:lpstr>
      <vt:lpstr>Question 6</vt:lpstr>
      <vt:lpstr>Question 6: Answer </vt:lpstr>
      <vt:lpstr>Question 7</vt:lpstr>
      <vt:lpstr>Question 7: Answer </vt:lpstr>
      <vt:lpstr>Question 8</vt:lpstr>
      <vt:lpstr>Question 8</vt:lpstr>
      <vt:lpstr>Question 9</vt:lpstr>
      <vt:lpstr>Question 9: Answer </vt:lpstr>
      <vt:lpstr>Question 10</vt:lpstr>
      <vt:lpstr>Question 10: Answer </vt:lpstr>
      <vt:lpstr>Question 11</vt:lpstr>
      <vt:lpstr>Question 11: Answer </vt:lpstr>
      <vt:lpstr>References </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Samples and Sampling</dc:title>
  <dc:creator>Bernice</dc:creator>
  <cp:lastModifiedBy>Bernice Kennedy</cp:lastModifiedBy>
  <cp:revision>112</cp:revision>
  <dcterms:created xsi:type="dcterms:W3CDTF">2015-11-04T06:47:47Z</dcterms:created>
  <dcterms:modified xsi:type="dcterms:W3CDTF">2020-08-09T16:39:11Z</dcterms:modified>
</cp:coreProperties>
</file>